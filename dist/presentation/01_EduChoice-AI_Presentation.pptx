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12191695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4572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HỌC KỸ THUẬT · HỘI ĐỒNG GIÁM KHẢO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Nền tảng hỗ trợ tự điều chỉnh hành vi học tập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bằng AI thích ứng có kiểm soát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Từ “bịa số liệu giả” → hệ thống trung thực: kỹ thuật · dữ liệu · thử nghiệm có kiểm soát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3584448" cy="1325880"/>
          </a:xfrm>
          <a:prstGeom prst="roundRect">
            <a:avLst>
              <a:gd name="adj" fmla="val 6897"/>
            </a:avLst>
          </a:prstGeom>
          <a:solidFill>
            <a:srgbClr val="1E2A4A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4352544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4340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872" dirty="0"/>
          </a:p>
        </p:txBody>
      </p:sp>
      <p:sp>
        <p:nvSpPr>
          <p:cNvPr id="12" name="Text 10"/>
          <p:cNvSpPr/>
          <p:nvPr/>
        </p:nvSpPr>
        <p:spPr>
          <a:xfrm>
            <a:off x="1335024" y="4352544"/>
            <a:ext cx="8321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VẤN ĐỀ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490118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Biết nhưng khó làm; phản hồi tĩnh; AI thiếu kiểm soát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4206240"/>
            <a:ext cx="3584448" cy="1325880"/>
          </a:xfrm>
          <a:prstGeom prst="roundRect">
            <a:avLst>
              <a:gd name="adj" fmla="val 6897"/>
            </a:avLst>
          </a:prstGeom>
          <a:solidFill>
            <a:srgbClr val="1E2A4A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4352544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434340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◉</a:t>
            </a:r>
            <a:endParaRPr lang="en-US" sz="1872" dirty="0"/>
          </a:p>
        </p:txBody>
      </p:sp>
      <p:sp>
        <p:nvSpPr>
          <p:cNvPr id="17" name="Text 15"/>
          <p:cNvSpPr/>
          <p:nvPr/>
        </p:nvSpPr>
        <p:spPr>
          <a:xfrm>
            <a:off x="5102352" y="4352544"/>
            <a:ext cx="8321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GIẢI PHÁP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08576" y="490118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Vòng khép kín game → hành vi → can thiệp → đo transfer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74736" y="4206240"/>
            <a:ext cx="3584448" cy="1325880"/>
          </a:xfrm>
          <a:prstGeom prst="roundRect">
            <a:avLst>
              <a:gd name="adj" fmla="val 6897"/>
            </a:avLst>
          </a:prstGeom>
          <a:solidFill>
            <a:srgbClr val="1E2A4A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4352544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434340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872" dirty="0"/>
          </a:p>
        </p:txBody>
      </p:sp>
      <p:sp>
        <p:nvSpPr>
          <p:cNvPr id="22" name="Text 20"/>
          <p:cNvSpPr/>
          <p:nvPr/>
        </p:nvSpPr>
        <p:spPr>
          <a:xfrm>
            <a:off x="8869680" y="4352544"/>
            <a:ext cx="8321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QUẢ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75904" y="4901184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E2E 18/20, bảo mật 403, demo báo thật, công thức xác minh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6053328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43000" y="608990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kịch bản game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12848" y="6053328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715768" y="608990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toolkit can thiệp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85616" y="6053328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288536" y="608990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 dữ liệu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58384" y="6053328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61304" y="608990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endpoint API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98080" y="607161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6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Học sinh THCS xây dựng · hỗ trợ lập trình AI có kiểm soát (OpenCode)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1828800" cy="420624"/>
          </a:xfrm>
          <a:prstGeom prst="roundRect">
            <a:avLst>
              <a:gd name="adj" fmla="val 21739"/>
            </a:avLst>
          </a:prstGeom>
          <a:solidFill>
            <a:srgbClr val="6B4E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NỘI DUNG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Lộ trình trình bày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" y="172821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97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97" dirty="0"/>
          </a:p>
        </p:txBody>
      </p:sp>
      <p:sp>
        <p:nvSpPr>
          <p:cNvPr id="9" name="Text 7"/>
          <p:cNvSpPr/>
          <p:nvPr/>
        </p:nvSpPr>
        <p:spPr>
          <a:xfrm>
            <a:off x="1014984" y="173736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vấn đề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Vì sao cần hệ thống này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2871216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" y="28620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97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97" dirty="0"/>
          </a:p>
        </p:txBody>
      </p:sp>
      <p:sp>
        <p:nvSpPr>
          <p:cNvPr id="13" name="Text 11"/>
          <p:cNvSpPr/>
          <p:nvPr/>
        </p:nvSpPr>
        <p:spPr>
          <a:xfrm>
            <a:off x="1014984" y="2871216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Bằng chứng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41985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audit: 30 phát hiện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4005072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" y="39959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97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97" dirty="0"/>
          </a:p>
        </p:txBody>
      </p:sp>
      <p:sp>
        <p:nvSpPr>
          <p:cNvPr id="17" name="Text 15"/>
          <p:cNvSpPr/>
          <p:nvPr/>
        </p:nvSpPr>
        <p:spPr>
          <a:xfrm>
            <a:off x="1014984" y="400507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Giải pháp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5537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Vòng khép kín game–hành vi–transfer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5138928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2E7DE4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" y="512978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97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97" dirty="0"/>
          </a:p>
        </p:txBody>
      </p:sp>
      <p:sp>
        <p:nvSpPr>
          <p:cNvPr id="21" name="Text 19"/>
          <p:cNvSpPr/>
          <p:nvPr/>
        </p:nvSpPr>
        <p:spPr>
          <a:xfrm>
            <a:off x="1014984" y="5138928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&amp; AI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56875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có kiểm soát, fallback an toàn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93815" y="1737360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6330391" y="172821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97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97" dirty="0"/>
          </a:p>
        </p:txBody>
      </p:sp>
      <p:sp>
        <p:nvSpPr>
          <p:cNvPr id="25" name="Text 23"/>
          <p:cNvSpPr/>
          <p:nvPr/>
        </p:nvSpPr>
        <p:spPr>
          <a:xfrm>
            <a:off x="6897319" y="173736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Sản phẩm &amp; dữ liệu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33895" y="22860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Game, giao diện, 39 schema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93815" y="2871216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2BB673"/>
          </a:solidFill>
          <a:ln/>
        </p:spPr>
      </p:sp>
      <p:sp>
        <p:nvSpPr>
          <p:cNvPr id="28" name="Text 26"/>
          <p:cNvSpPr/>
          <p:nvPr/>
        </p:nvSpPr>
        <p:spPr>
          <a:xfrm>
            <a:off x="6330391" y="28620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97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097" dirty="0"/>
          </a:p>
        </p:txBody>
      </p:sp>
      <p:sp>
        <p:nvSpPr>
          <p:cNvPr id="29" name="Text 27"/>
          <p:cNvSpPr/>
          <p:nvPr/>
        </p:nvSpPr>
        <p:spPr>
          <a:xfrm>
            <a:off x="6897319" y="2871216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thử &amp; công thức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33895" y="341985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Bảng bằng chứng số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93815" y="4005072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E24BA6"/>
          </a:solidFill>
          <a:ln/>
        </p:spPr>
      </p:sp>
      <p:sp>
        <p:nvSpPr>
          <p:cNvPr id="32" name="Text 30"/>
          <p:cNvSpPr/>
          <p:nvPr/>
        </p:nvSpPr>
        <p:spPr>
          <a:xfrm>
            <a:off x="6330391" y="39959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97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097" dirty="0"/>
          </a:p>
        </p:txBody>
      </p:sp>
      <p:sp>
        <p:nvSpPr>
          <p:cNvPr id="33" name="Text 31"/>
          <p:cNvSpPr/>
          <p:nvPr/>
        </p:nvSpPr>
        <p:spPr>
          <a:xfrm>
            <a:off x="6897319" y="400507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toàn &amp; kết luận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33895" y="45537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Giới hạn nói rõ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9360" y="5138928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5138928"/>
            <a:ext cx="4572000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6473952" y="5138928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TINH THẦN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473952" y="5705856"/>
            <a:ext cx="4242816" cy="210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Mỗi con số trên slide đều truy về mã nguồn — không có dữ liệu bịa.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15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286000" cy="420624"/>
          </a:xfrm>
          <a:prstGeom prst="roundRect">
            <a:avLst>
              <a:gd name="adj" fmla="val 21739"/>
            </a:avLst>
          </a:prstGeom>
          <a:solidFill>
            <a:srgbClr val="12967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VẤN ĐỀ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Vấn đề thực tế &amp; câu hỏi nghiên cứu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59893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1296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" y="1828800"/>
            <a:ext cx="2331720" cy="457200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19656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</a:t>
            </a:r>
            <a:endParaRPr lang="en-US" sz="1872" dirty="0"/>
          </a:p>
        </p:txBody>
      </p:sp>
      <p:sp>
        <p:nvSpPr>
          <p:cNvPr id="10" name="Text 8"/>
          <p:cNvSpPr/>
          <p:nvPr/>
        </p:nvSpPr>
        <p:spPr>
          <a:xfrm>
            <a:off x="1106424" y="182880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Biết nhưng không làm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" y="21762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Kỹ năng biết là đúng, hành vi đời thực vẫn không đổi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2724912"/>
            <a:ext cx="59893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" y="2889504"/>
            <a:ext cx="2331720" cy="457200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8036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⚙</a:t>
            </a:r>
            <a:endParaRPr lang="en-US" sz="1872" dirty="0"/>
          </a:p>
        </p:txBody>
      </p:sp>
      <p:sp>
        <p:nvSpPr>
          <p:cNvPr id="15" name="Text 13"/>
          <p:cNvSpPr/>
          <p:nvPr/>
        </p:nvSpPr>
        <p:spPr>
          <a:xfrm>
            <a:off x="1106424" y="2889504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Phản hồi tĩnh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" y="323697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Cùng một lời khuyên cho mọi tình huống của từng học sinh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" y="3785616"/>
            <a:ext cx="59893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2E7D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" y="3950208"/>
            <a:ext cx="2331720" cy="457200"/>
          </a:xfrm>
          <a:prstGeom prst="roundRect">
            <a:avLst>
              <a:gd name="adj" fmla="val 18000"/>
            </a:avLst>
          </a:prstGeom>
          <a:solidFill>
            <a:srgbClr val="2E7DE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41064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≡</a:t>
            </a:r>
            <a:endParaRPr lang="en-US" sz="1872" dirty="0"/>
          </a:p>
        </p:txBody>
      </p:sp>
      <p:sp>
        <p:nvSpPr>
          <p:cNvPr id="20" name="Text 18"/>
          <p:cNvSpPr/>
          <p:nvPr/>
        </p:nvSpPr>
        <p:spPr>
          <a:xfrm>
            <a:off x="1106424" y="395020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Ứng dụng dạy kỹ năng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" y="42976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Nặng nội dung + quiz, thiếu vòng lặp quan sát hành vi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1480" y="4846320"/>
            <a:ext cx="59893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" y="5010912"/>
            <a:ext cx="2331720" cy="457200"/>
          </a:xfrm>
          <a:prstGeom prst="roundRect">
            <a:avLst>
              <a:gd name="adj" fmla="val 18000"/>
            </a:avLst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5001768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</a:t>
            </a:r>
            <a:endParaRPr lang="en-US" sz="1872" dirty="0"/>
          </a:p>
        </p:txBody>
      </p:sp>
      <p:sp>
        <p:nvSpPr>
          <p:cNvPr id="25" name="Text 23"/>
          <p:cNvSpPr/>
          <p:nvPr/>
        </p:nvSpPr>
        <p:spPr>
          <a:xfrm>
            <a:off x="1106424" y="5010912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thiếu kiểm soát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" y="535838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Rủi ro nội dung thoát kiểm soát, tự “chẩn đoán” học sinh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20840" y="1664208"/>
            <a:ext cx="5056632" cy="1417320"/>
          </a:xfrm>
          <a:prstGeom prst="roundRect">
            <a:avLst>
              <a:gd name="adj" fmla="val 6452"/>
            </a:avLst>
          </a:prstGeom>
          <a:solidFill>
            <a:srgbClr val="3D2B99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810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5A6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CÂU HỎI NGHIÊN CỨU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2212848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Nhận diện tình huống từ hành vi + can thiệp thích ứng + đo transfer có cải thiện hiệu quả so với phản hồi cố định không?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720840" y="3246120"/>
            <a:ext cx="50566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3246120"/>
            <a:ext cx="5056632" cy="475488"/>
          </a:xfrm>
          <a:prstGeom prst="rect">
            <a:avLst/>
          </a:prstGeom>
          <a:solidFill>
            <a:srgbClr val="2BB673"/>
          </a:solidFill>
          <a:ln/>
        </p:spPr>
      </p:sp>
      <p:sp>
        <p:nvSpPr>
          <p:cNvPr id="32" name="Text 30"/>
          <p:cNvSpPr/>
          <p:nvPr/>
        </p:nvSpPr>
        <p:spPr>
          <a:xfrm>
            <a:off x="6885432" y="3246120"/>
            <a:ext cx="478231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H1 · THÍCH ỨNG &gt; TĨNH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885432" y="3813048"/>
            <a:ext cx="4727448" cy="210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H1: Có khác biệt tích cực về phản ứng &amp; transfer.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20840" y="4261104"/>
            <a:ext cx="50566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0840" y="4261104"/>
            <a:ext cx="5056632" cy="47548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6" name="Text 34"/>
          <p:cNvSpPr/>
          <p:nvPr/>
        </p:nvSpPr>
        <p:spPr>
          <a:xfrm>
            <a:off x="6885432" y="4261104"/>
            <a:ext cx="478231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H0 · KHÔNG KHÁC BIỆT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885432" y="4828032"/>
            <a:ext cx="4727448" cy="210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H0: Không có khác biệt có ý nghĩa giữa hai điều kiện.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20840" y="5276088"/>
            <a:ext cx="5056632" cy="777240"/>
          </a:xfrm>
          <a:prstGeom prst="roundRect">
            <a:avLst>
              <a:gd name="adj" fmla="val 11765"/>
            </a:avLst>
          </a:prstGeom>
          <a:solidFill>
            <a:srgbClr val="FFF6E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5276088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Lưu ý: giả thuyết thiết kế — chưa có thực nghiệm học sinh thật, deck không tuyên bố hiệu quả (spec §171).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15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BẰNG CHỨNG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audit — vì sao phải thiết kế lại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DEEF6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783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 / 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Verdict: NO-GO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23160" y="22128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Trước cải tiến, đánh giá độc lập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Critical (nguy hiểm nhất)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4617720" cy="2331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✔ Không có xác thực — role do client tự khai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✕ IDOR — đọc/ghi dữ liệu người khác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✕ Health/sync/E2E báo giả như thật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✕ Dữ liệu nghiên cứu bịa hiển thị như kết quả thật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17373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phát hiện theo mức độ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43800" y="23317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233172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0" y="2286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35040" y="31272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543800" y="3172968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3172968"/>
            <a:ext cx="2633472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0" y="31272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5A6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35040" y="396849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543800" y="4014216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4014216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2E7DE4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0" y="39684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E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35040" y="48097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543800" y="4855464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4855464"/>
            <a:ext cx="2633472" cy="365760"/>
          </a:xfrm>
          <a:prstGeom prst="roundRect">
            <a:avLst>
              <a:gd name="adj" fmla="val 20000"/>
            </a:avLst>
          </a:prstGeom>
          <a:solidFill>
            <a:srgbClr val="12967F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0" y="480974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96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35040" y="562356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Nguồn: EDUCHOICE_AI_PRE_IMPROVEMENT_AUDIT_REPORT.md — chuẩn điểm: x/ảnh trong báo cáo audit.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Tái lập: đọc trực tiếp working copy 2026-09-15.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15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6B4E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GIẢI PHÁP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Vòng khép kín: Game → Hành vi → Can thiệp → Transfer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EDEBFB"/>
          </a:solidFill>
          <a:ln w="12700">
            <a:solidFill>
              <a:srgbClr val="1296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" y="1883664"/>
            <a:ext cx="2414016" cy="566928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87452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1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2321" dirty="0"/>
          </a:p>
        </p:txBody>
      </p:sp>
      <p:sp>
        <p:nvSpPr>
          <p:cNvPr id="10" name="Text 8"/>
          <p:cNvSpPr/>
          <p:nvPr/>
        </p:nvSpPr>
        <p:spPr>
          <a:xfrm>
            <a:off x="1197864" y="1883664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08376" y="2176272"/>
            <a:ext cx="274320" cy="182880"/>
          </a:xfrm>
          <a:prstGeom prst="rightArrow">
            <a:avLst/>
          </a:prstGeom>
          <a:solidFill>
            <a:srgbClr val="12967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755648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EDEBFB"/>
          </a:solidFill>
          <a:ln w="12700">
            <a:solidFill>
              <a:srgbClr val="2E7D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1883664"/>
            <a:ext cx="2414016" cy="566928"/>
          </a:xfrm>
          <a:prstGeom prst="roundRect">
            <a:avLst>
              <a:gd name="adj" fmla="val 18000"/>
            </a:avLst>
          </a:prstGeom>
          <a:solidFill>
            <a:srgbClr val="2E7DE4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87452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1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≡</a:t>
            </a:r>
            <a:endParaRPr lang="en-US" sz="2321" dirty="0"/>
          </a:p>
        </p:txBody>
      </p:sp>
      <p:sp>
        <p:nvSpPr>
          <p:cNvPr id="15" name="Text 13"/>
          <p:cNvSpPr/>
          <p:nvPr/>
        </p:nvSpPr>
        <p:spPr>
          <a:xfrm>
            <a:off x="4078224" y="1883664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Hành vi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88736" y="2176272"/>
            <a:ext cx="274320" cy="182880"/>
          </a:xfrm>
          <a:prstGeom prst="rightArrow">
            <a:avLst/>
          </a:prstGeom>
          <a:solidFill>
            <a:srgbClr val="2E7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1755648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EDEBF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0216" y="1883664"/>
            <a:ext cx="2414016" cy="566928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336792" y="187452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1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★</a:t>
            </a:r>
            <a:endParaRPr lang="en-US" sz="2321" dirty="0"/>
          </a:p>
        </p:txBody>
      </p:sp>
      <p:sp>
        <p:nvSpPr>
          <p:cNvPr id="20" name="Text 18"/>
          <p:cNvSpPr/>
          <p:nvPr/>
        </p:nvSpPr>
        <p:spPr>
          <a:xfrm>
            <a:off x="6958584" y="1883664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Tình huống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769096" y="2176272"/>
            <a:ext cx="274320" cy="18288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1755648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EDEBFB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0576" y="1883664"/>
            <a:ext cx="2414016" cy="566928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24" name="Text 22"/>
          <p:cNvSpPr/>
          <p:nvPr/>
        </p:nvSpPr>
        <p:spPr>
          <a:xfrm>
            <a:off x="9217152" y="187452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1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◉</a:t>
            </a:r>
            <a:endParaRPr lang="en-US" sz="2321" dirty="0"/>
          </a:p>
        </p:txBody>
      </p:sp>
      <p:sp>
        <p:nvSpPr>
          <p:cNvPr id="25" name="Text 23"/>
          <p:cNvSpPr/>
          <p:nvPr/>
        </p:nvSpPr>
        <p:spPr>
          <a:xfrm>
            <a:off x="9838944" y="1883664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Trạng thái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11480" y="3127248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EDEBFB"/>
          </a:solidFill>
          <a:ln w="12700">
            <a:solidFill>
              <a:srgbClr val="E24B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3255264"/>
            <a:ext cx="2414016" cy="566928"/>
          </a:xfrm>
          <a:prstGeom prst="roundRect">
            <a:avLst>
              <a:gd name="adj" fmla="val 18000"/>
            </a:avLst>
          </a:prstGeom>
          <a:solidFill>
            <a:srgbClr val="E24BA6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324612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1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</a:t>
            </a:r>
            <a:endParaRPr lang="en-US" sz="2321" dirty="0"/>
          </a:p>
        </p:txBody>
      </p:sp>
      <p:sp>
        <p:nvSpPr>
          <p:cNvPr id="29" name="Text 27"/>
          <p:cNvSpPr/>
          <p:nvPr/>
        </p:nvSpPr>
        <p:spPr>
          <a:xfrm>
            <a:off x="1197864" y="3255264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 xuất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291840" y="3127248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EDEBFB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9856" y="3255264"/>
            <a:ext cx="2414016" cy="566928"/>
          </a:xfrm>
          <a:prstGeom prst="roundRect">
            <a:avLst>
              <a:gd name="adj" fmla="val 18000"/>
            </a:avLst>
          </a:prstGeom>
          <a:solidFill>
            <a:srgbClr val="E4572E"/>
          </a:solidFill>
          <a:ln/>
        </p:spPr>
      </p:sp>
      <p:sp>
        <p:nvSpPr>
          <p:cNvPr id="32" name="Text 30"/>
          <p:cNvSpPr/>
          <p:nvPr/>
        </p:nvSpPr>
        <p:spPr>
          <a:xfrm>
            <a:off x="3456432" y="324612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1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2321" dirty="0"/>
          </a:p>
        </p:txBody>
      </p:sp>
      <p:sp>
        <p:nvSpPr>
          <p:cNvPr id="33" name="Text 31"/>
          <p:cNvSpPr/>
          <p:nvPr/>
        </p:nvSpPr>
        <p:spPr>
          <a:xfrm>
            <a:off x="4078224" y="3255264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soát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172200" y="3127248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EDEBFB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0216" y="3255264"/>
            <a:ext cx="2414016" cy="566928"/>
          </a:xfrm>
          <a:prstGeom prst="roundRect">
            <a:avLst>
              <a:gd name="adj" fmla="val 18000"/>
            </a:avLst>
          </a:prstGeom>
          <a:solidFill>
            <a:srgbClr val="2BB673"/>
          </a:solidFill>
          <a:ln/>
        </p:spPr>
      </p:sp>
      <p:sp>
        <p:nvSpPr>
          <p:cNvPr id="36" name="Text 34"/>
          <p:cNvSpPr/>
          <p:nvPr/>
        </p:nvSpPr>
        <p:spPr>
          <a:xfrm>
            <a:off x="6336792" y="324612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1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2321" dirty="0"/>
          </a:p>
        </p:txBody>
      </p:sp>
      <p:sp>
        <p:nvSpPr>
          <p:cNvPr id="37" name="Text 35"/>
          <p:cNvSpPr/>
          <p:nvPr/>
        </p:nvSpPr>
        <p:spPr>
          <a:xfrm>
            <a:off x="6958584" y="3255264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thiệp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052560" y="3127248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EDEBFB"/>
          </a:solidFill>
          <a:ln w="12700">
            <a:solidFill>
              <a:srgbClr val="12967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80576" y="3255264"/>
            <a:ext cx="2414016" cy="566928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40" name="Text 38"/>
          <p:cNvSpPr/>
          <p:nvPr/>
        </p:nvSpPr>
        <p:spPr>
          <a:xfrm>
            <a:off x="9217152" y="3246120"/>
            <a:ext cx="53035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21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↗</a:t>
            </a:r>
            <a:endParaRPr lang="en-US" sz="2321" dirty="0"/>
          </a:p>
        </p:txBody>
      </p:sp>
      <p:sp>
        <p:nvSpPr>
          <p:cNvPr id="41" name="Text 39"/>
          <p:cNvSpPr/>
          <p:nvPr/>
        </p:nvSpPr>
        <p:spPr>
          <a:xfrm>
            <a:off x="9838944" y="3255264"/>
            <a:ext cx="17190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612880" y="2779776"/>
            <a:ext cx="201168" cy="329184"/>
          </a:xfrm>
          <a:prstGeom prst="downArrow">
            <a:avLst/>
          </a:prstGeom>
          <a:solidFill>
            <a:srgbClr val="6B4E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3434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1 → 8 (zigzag): quan sát hành vi → nhận diện tình huống → đề xuất → kiểm soát → can thiệp → đo phản ứng &amp; transfer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11480" y="4892040"/>
            <a:ext cx="3611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E7D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5166360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2E7DE4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" y="5157216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⏱</a:t>
            </a:r>
            <a:endParaRPr lang="en-US" sz="1872" dirty="0"/>
          </a:p>
        </p:txBody>
      </p:sp>
      <p:sp>
        <p:nvSpPr>
          <p:cNvPr id="47" name="Text 45"/>
          <p:cNvSpPr/>
          <p:nvPr/>
        </p:nvSpPr>
        <p:spPr>
          <a:xfrm>
            <a:off x="1097280" y="516636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 thật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331720" y="5001768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 trong game thay vì hằng số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15384" y="4892040"/>
            <a:ext cx="3611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52544" y="5166360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51" name="Text 49"/>
          <p:cNvSpPr/>
          <p:nvPr/>
        </p:nvSpPr>
        <p:spPr>
          <a:xfrm>
            <a:off x="4389120" y="5157216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⚙</a:t>
            </a:r>
            <a:endParaRPr lang="en-US" sz="1872" dirty="0"/>
          </a:p>
        </p:txBody>
      </p:sp>
      <p:sp>
        <p:nvSpPr>
          <p:cNvPr id="52" name="Text 50"/>
          <p:cNvSpPr/>
          <p:nvPr/>
        </p:nvSpPr>
        <p:spPr>
          <a:xfrm>
            <a:off x="4901184" y="516636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an toàn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135624" y="5001768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Allow-list + fallback deterministic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19288" y="4892040"/>
            <a:ext cx="3611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56448" y="5166360"/>
            <a:ext cx="1737360" cy="457200"/>
          </a:xfrm>
          <a:prstGeom prst="roundRect">
            <a:avLst>
              <a:gd name="adj" fmla="val 18000"/>
            </a:avLst>
          </a:prstGeom>
          <a:solidFill>
            <a:srgbClr val="2BB673"/>
          </a:solidFill>
          <a:ln/>
        </p:spPr>
      </p:sp>
      <p:sp>
        <p:nvSpPr>
          <p:cNvPr id="56" name="Text 54"/>
          <p:cNvSpPr/>
          <p:nvPr/>
        </p:nvSpPr>
        <p:spPr>
          <a:xfrm>
            <a:off x="8193024" y="5157216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↗</a:t>
            </a:r>
            <a:endParaRPr lang="en-US" sz="1872" dirty="0"/>
          </a:p>
        </p:txBody>
      </p:sp>
      <p:sp>
        <p:nvSpPr>
          <p:cNvPr id="57" name="Text 55"/>
          <p:cNvSpPr/>
          <p:nvPr/>
        </p:nvSpPr>
        <p:spPr>
          <a:xfrm>
            <a:off x="8705088" y="516636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939528" y="5001768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Kỹ năng game → micro-hành động thật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60" name="Text 58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15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194560" cy="420624"/>
          </a:xfrm>
          <a:prstGeom prst="roundRect">
            <a:avLst>
              <a:gd name="adj" fmla="val 21739"/>
            </a:avLst>
          </a:prstGeom>
          <a:solidFill>
            <a:srgbClr val="2E7DE4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4 tầng — từ giao diện đến dữ liệu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113659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296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792224"/>
            <a:ext cx="3017520" cy="530352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783080"/>
            <a:ext cx="4937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≡</a:t>
            </a:r>
            <a:endParaRPr lang="en-US" sz="2172" dirty="0"/>
          </a:p>
        </p:txBody>
      </p:sp>
      <p:sp>
        <p:nvSpPr>
          <p:cNvPr id="10" name="Text 8"/>
          <p:cNvSpPr/>
          <p:nvPr/>
        </p:nvSpPr>
        <p:spPr>
          <a:xfrm>
            <a:off x="1197864" y="1792224"/>
            <a:ext cx="2359152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Tầng giao diện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40480" y="1664208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UI · Teacher Dashboard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83080" y="2450592"/>
            <a:ext cx="182880" cy="237744"/>
          </a:xfrm>
          <a:prstGeom prst="downArrow">
            <a:avLst/>
          </a:prstGeom>
          <a:solidFill>
            <a:srgbClr val="12967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688336"/>
            <a:ext cx="113659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E7D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" y="2816352"/>
            <a:ext cx="3017520" cy="530352"/>
          </a:xfrm>
          <a:prstGeom prst="roundRect">
            <a:avLst>
              <a:gd name="adj" fmla="val 18000"/>
            </a:avLst>
          </a:prstGeom>
          <a:solidFill>
            <a:srgbClr val="2E7DE4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807208"/>
            <a:ext cx="4937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⚙</a:t>
            </a:r>
            <a:endParaRPr lang="en-US" sz="2172" dirty="0"/>
          </a:p>
        </p:txBody>
      </p:sp>
      <p:sp>
        <p:nvSpPr>
          <p:cNvPr id="16" name="Text 14"/>
          <p:cNvSpPr/>
          <p:nvPr/>
        </p:nvSpPr>
        <p:spPr>
          <a:xfrm>
            <a:off x="1197864" y="2816352"/>
            <a:ext cx="2359152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Tầng cổng kết nối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0480" y="2688336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 API + Apps Script gateway · Auth allow-list server-side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783080" y="3474720"/>
            <a:ext cx="182880" cy="237744"/>
          </a:xfrm>
          <a:prstGeom prst="downArrow">
            <a:avLst/>
          </a:prstGeom>
          <a:solidFill>
            <a:srgbClr val="2E7DE4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3712464"/>
            <a:ext cx="113659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3840480"/>
            <a:ext cx="3017520" cy="530352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" y="3831336"/>
            <a:ext cx="4937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◉</a:t>
            </a:r>
            <a:endParaRPr lang="en-US" sz="2172" dirty="0"/>
          </a:p>
        </p:txBody>
      </p:sp>
      <p:sp>
        <p:nvSpPr>
          <p:cNvPr id="22" name="Text 20"/>
          <p:cNvSpPr/>
          <p:nvPr/>
        </p:nvSpPr>
        <p:spPr>
          <a:xfrm>
            <a:off x="1197864" y="3840480"/>
            <a:ext cx="2359152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Tầng thông minh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840480" y="3712464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Engine + Student Model + Gemini (trong khuôn khổ)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83080" y="4498848"/>
            <a:ext cx="182880" cy="237744"/>
          </a:xfrm>
          <a:prstGeom prst="downArrow">
            <a:avLst/>
          </a:prstGeom>
          <a:solidFill>
            <a:srgbClr val="6B4E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4736592"/>
            <a:ext cx="113659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" y="4864608"/>
            <a:ext cx="3017520" cy="530352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4855464"/>
            <a:ext cx="49377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▣</a:t>
            </a:r>
            <a:endParaRPr lang="en-US" sz="2172" dirty="0"/>
          </a:p>
        </p:txBody>
      </p:sp>
      <p:sp>
        <p:nvSpPr>
          <p:cNvPr id="28" name="Text 26"/>
          <p:cNvSpPr/>
          <p:nvPr/>
        </p:nvSpPr>
        <p:spPr>
          <a:xfrm>
            <a:off x="1197864" y="4864608"/>
            <a:ext cx="2359152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Tầng dữ liệu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840480" y="4736592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 schema canonical (V9) — hiện chạy in-memory demo, báo thật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1480" y="5705856"/>
            <a:ext cx="11365992" cy="603504"/>
          </a:xfrm>
          <a:prstGeom prst="roundRect">
            <a:avLst>
              <a:gd name="adj" fmla="val 15152"/>
            </a:avLst>
          </a:prstGeom>
          <a:solidFill>
            <a:srgbClr val="FDEEF6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733288"/>
            <a:ext cx="10607040" cy="512064"/>
          </a:xfrm>
          <a:prstGeom prst="roundRect">
            <a:avLst>
              <a:gd name="adj" fmla="val 18000"/>
            </a:avLst>
          </a:prstGeom>
          <a:solidFill>
            <a:srgbClr val="E4572E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" y="572414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43584" y="5733288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Oversight — giáo viên quyết định cuối cùng · Audit log (31) · AI log (18)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15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926080" cy="420624"/>
          </a:xfrm>
          <a:prstGeom prst="roundRect">
            <a:avLst>
              <a:gd name="adj" fmla="val 21739"/>
            </a:avLst>
          </a:prstGeom>
          <a:solidFill>
            <a:srgbClr val="6B4E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CÓ KIỂM SOÁT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Gemini chỉ đề xuất — hệ thống quyết định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176272" cy="1371600"/>
          </a:xfrm>
          <a:prstGeom prst="roundRect">
            <a:avLst>
              <a:gd name="adj" fmla="val 6667"/>
            </a:avLst>
          </a:prstGeom>
          <a:solidFill>
            <a:srgbClr val="EDEBFB"/>
          </a:solidFill>
          <a:ln w="12700">
            <a:solidFill>
              <a:srgbClr val="2E7D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3664"/>
            <a:ext cx="548640" cy="502920"/>
          </a:xfrm>
          <a:prstGeom prst="roundRect">
            <a:avLst>
              <a:gd name="adj" fmla="val 18000"/>
            </a:avLst>
          </a:prstGeom>
          <a:solidFill>
            <a:srgbClr val="2E7DE4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87452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190195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 + Candidate set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32888" y="2304288"/>
            <a:ext cx="237744" cy="201168"/>
          </a:xfrm>
          <a:prstGeom prst="rightArrow">
            <a:avLst/>
          </a:prstGeom>
          <a:solidFill>
            <a:srgbClr val="6B4E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70632" y="1737360"/>
            <a:ext cx="2176272" cy="1371600"/>
          </a:xfrm>
          <a:prstGeom prst="roundRect">
            <a:avLst>
              <a:gd name="adj" fmla="val 6667"/>
            </a:avLst>
          </a:prstGeom>
          <a:solidFill>
            <a:srgbClr val="EDEBFB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7792" y="1883664"/>
            <a:ext cx="548640" cy="502920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14" name="Text 12"/>
          <p:cNvSpPr/>
          <p:nvPr/>
        </p:nvSpPr>
        <p:spPr>
          <a:xfrm>
            <a:off x="2944368" y="187452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07792" y="2450592"/>
            <a:ext cx="190195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Gemini reasoning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2304288"/>
            <a:ext cx="237744" cy="201168"/>
          </a:xfrm>
          <a:prstGeom prst="rightArrow">
            <a:avLst/>
          </a:prstGeom>
          <a:solidFill>
            <a:srgbClr val="6B4E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9784" y="1737360"/>
            <a:ext cx="2176272" cy="1371600"/>
          </a:xfrm>
          <a:prstGeom prst="roundRect">
            <a:avLst>
              <a:gd name="adj" fmla="val 6667"/>
            </a:avLst>
          </a:prstGeom>
          <a:solidFill>
            <a:srgbClr val="EDEBF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66944" y="1883664"/>
            <a:ext cx="548640" cy="50292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87452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66944" y="2450592"/>
            <a:ext cx="190195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soát: schema · allow-list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51192" y="2304288"/>
            <a:ext cx="237744" cy="201168"/>
          </a:xfrm>
          <a:prstGeom prst="rightArrow">
            <a:avLst/>
          </a:prstGeom>
          <a:solidFill>
            <a:srgbClr val="6B4E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88936" y="1737360"/>
            <a:ext cx="2176272" cy="1371600"/>
          </a:xfrm>
          <a:prstGeom prst="roundRect">
            <a:avLst>
              <a:gd name="adj" fmla="val 6667"/>
            </a:avLst>
          </a:prstGeom>
          <a:solidFill>
            <a:srgbClr val="EDEBFB"/>
          </a:solidFill>
          <a:ln w="12700">
            <a:solidFill>
              <a:srgbClr val="1296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6096" y="1883664"/>
            <a:ext cx="548640" cy="502920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24" name="Text 22"/>
          <p:cNvSpPr/>
          <p:nvPr/>
        </p:nvSpPr>
        <p:spPr>
          <a:xfrm>
            <a:off x="7662672" y="187452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⚙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626096" y="2450592"/>
            <a:ext cx="190195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Fallback an toàn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10344" y="2304288"/>
            <a:ext cx="237744" cy="201168"/>
          </a:xfrm>
          <a:prstGeom prst="rightArrow">
            <a:avLst/>
          </a:prstGeom>
          <a:solidFill>
            <a:srgbClr val="6B4E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848088" y="1737360"/>
            <a:ext cx="2176272" cy="1371600"/>
          </a:xfrm>
          <a:prstGeom prst="roundRect">
            <a:avLst>
              <a:gd name="adj" fmla="val 6667"/>
            </a:avLst>
          </a:prstGeom>
          <a:solidFill>
            <a:srgbClr val="EDEBFB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1883664"/>
            <a:ext cx="548640" cy="502920"/>
          </a:xfrm>
          <a:prstGeom prst="roundRect">
            <a:avLst>
              <a:gd name="adj" fmla="val 18000"/>
            </a:avLst>
          </a:prstGeom>
          <a:solidFill>
            <a:srgbClr val="2BB673"/>
          </a:solidFill>
          <a:ln/>
        </p:spPr>
      </p:sp>
      <p:sp>
        <p:nvSpPr>
          <p:cNvPr id="29" name="Text 27"/>
          <p:cNvSpPr/>
          <p:nvPr/>
        </p:nvSpPr>
        <p:spPr>
          <a:xfrm>
            <a:off x="10021824" y="187452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985248" y="2450592"/>
            <a:ext cx="190195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action + Log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1480" y="3291840"/>
            <a:ext cx="11365992" cy="658368"/>
          </a:xfrm>
          <a:prstGeom prst="roundRect">
            <a:avLst>
              <a:gd name="adj" fmla="val 13889"/>
            </a:avLst>
          </a:prstGeom>
          <a:solidFill>
            <a:srgbClr val="3D2B99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291840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“NO direct Gemini execution” — lựa chọn ra ngoài tập được phép sẽ bị loại hoặc chuyển fallback (gemini-3.8-flash · GA 2026-09-02)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11480" y="4160520"/>
            <a:ext cx="5532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4160520"/>
            <a:ext cx="5532120" cy="475488"/>
          </a:xfrm>
          <a:prstGeom prst="rect">
            <a:avLst/>
          </a:prstGeom>
          <a:solidFill>
            <a:srgbClr val="2BB673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" y="4160520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 QUYẾT ĐỊNH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76072" y="4727448"/>
            <a:ext cx="5202936" cy="1033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18_AI_DECISIONS ghi từng quyết định AI.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Trạng thái: valid / fallback / not_generated.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Minh bạch, truy vết được từng lời khuyên.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63640" y="4160520"/>
            <a:ext cx="551383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4160520"/>
            <a:ext cx="5513832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6428232" y="4160520"/>
            <a:ext cx="523951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RÀNG BUỘC ÉP CHẶT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428232" y="4727448"/>
            <a:ext cx="5184648" cy="1033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nextGameId ∈ tập ứng viên (allow-list).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duration ∈ [1..5]; difficulty ∈ [1..3].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Sanitize: mọi đầu ra AI được hợp lệ hoá trước khi dùng.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15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011680" cy="420624"/>
          </a:xfrm>
          <a:prstGeom prst="roundRect">
            <a:avLst>
              <a:gd name="adj" fmla="val 21739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SẢN PHẨM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sản phẩm — trải nghiệm học sinh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3063240" cy="393192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91640"/>
            <a:ext cx="3063240" cy="512064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" y="1737360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 03 · 48 phút cuối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" y="225856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D2B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 hoãn khởi đầu được nhận diện…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496" y="2743200"/>
            <a:ext cx="2807208" cy="896112"/>
          </a:xfrm>
          <a:prstGeom prst="roundRect">
            <a:avLst>
              <a:gd name="adj" fmla="val 8163"/>
            </a:avLst>
          </a:prstGeom>
          <a:solidFill>
            <a:srgbClr val="EAF7F0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34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Tình huống: còn 48 phút, bạn định dành “5 phút” xem video…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" y="371246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Lựa chọn: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496" y="4023360"/>
            <a:ext cx="2807208" cy="457200"/>
          </a:xfrm>
          <a:prstGeom prst="roundRect">
            <a:avLst>
              <a:gd name="adj" fmla="val 16000"/>
            </a:avLst>
          </a:prstGeom>
          <a:solidFill>
            <a:srgbClr val="2E7DE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· Lập kế hoạch 25 phút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496" y="4535424"/>
            <a:ext cx="2807208" cy="457200"/>
          </a:xfrm>
          <a:prstGeom prst="roundRect">
            <a:avLst>
              <a:gd name="adj" fmla="val 16000"/>
            </a:avLst>
          </a:prstGeom>
          <a:solidFill>
            <a:srgbClr val="12967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5354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 · Học theo reset 25ph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" y="509320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⏱ 48’ ⏸ Lần dừng: 3 ❓ Trợ giúp: 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94760" y="1691640"/>
            <a:ext cx="7982712" cy="1828800"/>
          </a:xfrm>
          <a:prstGeom prst="roundRect">
            <a:avLst>
              <a:gd name="adj" fmla="val 5000"/>
            </a:avLst>
          </a:prstGeom>
          <a:solidFill>
            <a:srgbClr val="EDEBFB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95928" y="1892808"/>
            <a:ext cx="3383280" cy="512064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21" name="Text 19"/>
          <p:cNvSpPr/>
          <p:nvPr/>
        </p:nvSpPr>
        <p:spPr>
          <a:xfrm>
            <a:off x="4032504" y="188366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97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</a:t>
            </a:r>
            <a:endParaRPr lang="en-US" sz="2097" dirty="0"/>
          </a:p>
        </p:txBody>
      </p:sp>
      <p:sp>
        <p:nvSpPr>
          <p:cNvPr id="22" name="Text 20"/>
          <p:cNvSpPr/>
          <p:nvPr/>
        </p:nvSpPr>
        <p:spPr>
          <a:xfrm>
            <a:off x="4599432" y="189280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 XUẤT THÍCH ỨNG (AI)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43800" y="1892808"/>
            <a:ext cx="3383280" cy="512064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7580376" y="188366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97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★</a:t>
            </a:r>
            <a:endParaRPr lang="en-US" sz="2097" dirty="0"/>
          </a:p>
        </p:txBody>
      </p:sp>
      <p:sp>
        <p:nvSpPr>
          <p:cNvPr id="25" name="Text 23"/>
          <p:cNvSpPr/>
          <p:nvPr/>
        </p:nvSpPr>
        <p:spPr>
          <a:xfrm>
            <a:off x="8147304" y="1892808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Tình huống: Trì hoãn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69080" y="2532888"/>
            <a:ext cx="743407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Vì sao: 2 lần trì hoãn + 1 chuyển tab trong 10 phút đầu. Đề xuất: kế hoạch 25 phút + nhắc giữa giờ.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69080" y="311810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D2B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Mức tự tin: 0.87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32120" y="3172968"/>
            <a:ext cx="39319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3172968"/>
            <a:ext cx="3419856" cy="219456"/>
          </a:xfrm>
          <a:prstGeom prst="roundRect">
            <a:avLst>
              <a:gd name="adj" fmla="val 20833"/>
            </a:avLst>
          </a:prstGeom>
          <a:solidFill>
            <a:srgbClr val="2BB673"/>
          </a:solidFill>
          <a:ln/>
        </p:spPr>
      </p:sp>
      <p:sp>
        <p:nvSpPr>
          <p:cNvPr id="30" name="Text 28"/>
          <p:cNvSpPr/>
          <p:nvPr/>
        </p:nvSpPr>
        <p:spPr>
          <a:xfrm>
            <a:off x="9646920" y="31181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Log: 18_AI_DECISIONS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794760" y="384048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22776" y="40050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BB673"/>
          </a:solidFill>
          <a:ln/>
        </p:spPr>
      </p:sp>
      <p:sp>
        <p:nvSpPr>
          <p:cNvPr id="33" name="Text 31"/>
          <p:cNvSpPr/>
          <p:nvPr/>
        </p:nvSpPr>
        <p:spPr>
          <a:xfrm>
            <a:off x="3959352" y="3995928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959352" y="4517136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Retry sau can thiệp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959352" y="4882896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Phản hồi tích cực, đo được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19672" y="384048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D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47688" y="40050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E7DE4"/>
          </a:solidFill>
          <a:ln/>
        </p:spPr>
      </p:sp>
      <p:sp>
        <p:nvSpPr>
          <p:cNvPr id="38" name="Text 36"/>
          <p:cNvSpPr/>
          <p:nvPr/>
        </p:nvSpPr>
        <p:spPr>
          <a:xfrm>
            <a:off x="6684264" y="3995928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⏱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84264" y="4517136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Time Mean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684264" y="4882896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 thời gian quyết định / 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244584" y="384048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72600" y="40050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9409176" y="3995928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↗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409176" y="4517136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Micro-action transfer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409176" y="4882896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 hành động đời thực 5 phút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69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Minh họa giao diện theo component thật: GameRuntime.tsx · StudentApp · 14 game · 13 toolkit · 45 API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/ 15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&amp; TRUNG THỰC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 schema theo nhóm — và báo đúng trạng thái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 schema canonical (V9) theo category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48840" y="224028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2240280"/>
            <a:ext cx="1413164" cy="27432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367528" y="2194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A6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48840" y="269748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2697480"/>
            <a:ext cx="2261062" cy="27432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5367528" y="2651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48840" y="315468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3154680"/>
            <a:ext cx="847898" cy="274320"/>
          </a:xfrm>
          <a:prstGeom prst="roundRect">
            <a:avLst>
              <a:gd name="adj" fmla="val 20000"/>
            </a:avLst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5367528" y="3108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6D6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3566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Intervention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48840" y="361188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48840" y="3611880"/>
            <a:ext cx="565265" cy="274320"/>
          </a:xfrm>
          <a:prstGeom prst="roundRect">
            <a:avLst>
              <a:gd name="adj" fmla="val 20000"/>
            </a:avLst>
          </a:prstGeom>
          <a:solidFill>
            <a:srgbClr val="118AB2"/>
          </a:solidFill>
          <a:ln/>
        </p:spPr>
      </p:sp>
      <p:sp>
        <p:nvSpPr>
          <p:cNvPr id="23" name="Text 21"/>
          <p:cNvSpPr/>
          <p:nvPr/>
        </p:nvSpPr>
        <p:spPr>
          <a:xfrm>
            <a:off x="5367528" y="3566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8A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" y="40233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148840" y="406908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4069080"/>
            <a:ext cx="847898" cy="274320"/>
          </a:xfrm>
          <a:prstGeom prst="roundRect">
            <a:avLst>
              <a:gd name="adj" fmla="val 20000"/>
            </a:avLst>
          </a:prstGeom>
          <a:solidFill>
            <a:srgbClr val="2E7DE4"/>
          </a:solidFill>
          <a:ln/>
        </p:spPr>
      </p:sp>
      <p:sp>
        <p:nvSpPr>
          <p:cNvPr id="27" name="Text 25"/>
          <p:cNvSpPr/>
          <p:nvPr/>
        </p:nvSpPr>
        <p:spPr>
          <a:xfrm>
            <a:off x="5367528" y="40233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E7DE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1480" y="44805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148840" y="452628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4526280"/>
            <a:ext cx="565265" cy="274320"/>
          </a:xfrm>
          <a:prstGeom prst="roundRect">
            <a:avLst>
              <a:gd name="adj" fmla="val 20000"/>
            </a:avLst>
          </a:prstGeom>
          <a:solidFill>
            <a:srgbClr val="6B4EFF"/>
          </a:solidFill>
          <a:ln/>
        </p:spPr>
      </p:sp>
      <p:sp>
        <p:nvSpPr>
          <p:cNvPr id="31" name="Text 29"/>
          <p:cNvSpPr/>
          <p:nvPr/>
        </p:nvSpPr>
        <p:spPr>
          <a:xfrm>
            <a:off x="5367528" y="4480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1480" y="4937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148840" y="498348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8840" y="498348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8338EC"/>
          </a:solidFill>
          <a:ln/>
        </p:spPr>
      </p:sp>
      <p:sp>
        <p:nvSpPr>
          <p:cNvPr id="35" name="Text 33"/>
          <p:cNvSpPr/>
          <p:nvPr/>
        </p:nvSpPr>
        <p:spPr>
          <a:xfrm>
            <a:off x="5367528" y="4937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8338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11480" y="5394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148840" y="544068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48840" y="5440680"/>
            <a:ext cx="1413164" cy="27432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/>
        </p:spPr>
      </p:sp>
      <p:sp>
        <p:nvSpPr>
          <p:cNvPr id="39" name="Text 37"/>
          <p:cNvSpPr/>
          <p:nvPr/>
        </p:nvSpPr>
        <p:spPr>
          <a:xfrm>
            <a:off x="5367528" y="5394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11480" y="5943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Nguồn: src/data/v9SchemaRegistry.ts (V9_CANONICAL_SCHEMAS)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06640" y="1691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Trạng thái thật (đo 2026-09-15)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406640" y="2194560"/>
            <a:ext cx="437083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52944" y="21945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dataSource: IN_MEMORY_MOCK → IN_MEMORY_MOCK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06640" y="2651760"/>
            <a:ext cx="437083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52944" y="26517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demoMode: true → true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06640" y="3108960"/>
            <a:ext cx="437083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52944" y="3108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eventIngestionRate: 0 → chưa có Sheets thật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06640" y="3566160"/>
            <a:ext cx="437083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52944" y="3566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Sync Sheets: 501 → SHEETS_NOT_CONFIGURED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06640" y="4023360"/>
            <a:ext cx="437083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2944" y="40233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V10 health: appsScript → offline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06640" y="4480560"/>
            <a:ext cx="437083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52944" y="44805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writeSuccessRate → 100% (in-memory)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406640" y="4983480"/>
            <a:ext cx="4370832" cy="868680"/>
          </a:xfrm>
          <a:prstGeom prst="roundRect">
            <a:avLst>
              <a:gd name="adj" fmla="val 10526"/>
            </a:avLst>
          </a:prstGeom>
          <a:solidFill>
            <a:srgbClr val="FFF6E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983480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demo gắn nhãn rõ — không hiển thị như kết quả thật. Không bao giờ báo success giả.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57" name="Text 55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/ 15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926080" cy="420624"/>
          </a:xfrm>
          <a:prstGeom prst="roundRect">
            <a:avLst>
              <a:gd name="adj" fmla="val 21739"/>
            </a:avLst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THỬ &amp; BẢO MẬT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Bảng bằng chứng: E2E thật &amp; an toàn server-side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E2E — 20 bước chạy thật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57400"/>
          <a:ext cx="562356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188720"/>
                <a:gridCol w="1188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Nhóm bước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Write (ghi dữ liệu)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Read (đọc dữ liệu)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44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Validation (ràng buộc)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44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Integrity (toàn vẹn)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44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Research (tra cứu)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44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TỔNG CỘNG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54864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FAIL được nêu công khai: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11480" y="585216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T06 · chưa có luồng ghi 10_INTERVENTIONS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T09 · AI decision log chưa tự động cho mọi phiên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09360" y="16276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mật — smoke test server-side</a:t>
            </a:r>
            <a:endParaRPr lang="en-US" sz="18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57400"/>
          <a:ext cx="54681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490472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Tình huống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Kết quả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Ý nghĩa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GUEST (mặc định)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Không có danh tính → denied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Spoof SUPER_ADMIN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Client tuyên bố SUPER_ADMIN → bị từ chối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SYSADMIN hợp lệ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ok=true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Trong DEMO_USERS allow-list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IDOR STU_001 đọc STU_002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Self-scoping ép userId từ danh tính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Sheets chưa cấu hình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457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501 SHEETS_NOT_CONFIGURED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Không báo success giả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309360" y="548640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boundary phía server: allow-list + ruolo từ danh tính xác minh.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15" name="Text 11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3200400" cy="420624"/>
          </a:xfrm>
          <a:prstGeom prst="roundRect">
            <a:avLst>
              <a:gd name="adj" fmla="val 21739"/>
            </a:avLst>
          </a:prstGeom>
          <a:solidFill>
            <a:srgbClr val="2E7DE4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THỨC MINH CHỨNG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thức — mỗi công thức có nguồn &amp; ví dụ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86000"/>
                <a:gridCol w="3566160"/>
                <a:gridCol w="3474720"/>
                <a:gridCol w="126187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Công thức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Ví dụ số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Trạng thái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F-001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Completion Rate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 / Eligible × 100%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 → 4 → 100 = 100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VERIFIED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F-002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Transfer Gap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Game Gain − Real Gain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 → 75 → 13 = 13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VERIFIED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F-003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Decision Time Mean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Σ(decision time) / 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185000 → 49 → ≈3776 ms = ≈3776 ms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VERIFIED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F-004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Write Success Rate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successful writes / total writes × 100%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 → 40 → 100 = 100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BB67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VERIFIED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E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5623560"/>
            <a:ext cx="11365992" cy="713232"/>
          </a:xfrm>
          <a:prstGeom prst="roundRect">
            <a:avLst>
              <a:gd name="adj" fmla="val 12821"/>
            </a:avLst>
          </a:prstGeom>
          <a:solidFill>
            <a:srgbClr val="FFF6E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623560"/>
            <a:ext cx="10881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F-005 Transfer Index: chưa có công thức tài liệu hóa trong repo (EVIDENCE GAP) → không trưng lên slide chính, chỉ nêu hạn chế.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/ 15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3108960" cy="420624"/>
          </a:xfrm>
          <a:prstGeom prst="roundRect">
            <a:avLst>
              <a:gd name="adj" fmla="val 21739"/>
            </a:avLst>
          </a:prstGeom>
          <a:solidFill>
            <a:srgbClr val="E24BA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KẾ THỬ NGHIỆM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kế A/B/C — metric định trước, chưa chạy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EDEBF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74520"/>
            <a:ext cx="2377440" cy="50292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865376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9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2059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Phản hồi cố định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247802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Đối chứng tĩnh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15384" y="16916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EDEBFB"/>
          </a:solidFill>
          <a:ln w="12700">
            <a:solidFill>
              <a:srgbClr val="1296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98264" y="1874520"/>
            <a:ext cx="2377440" cy="502920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865376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9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2059" dirty="0"/>
          </a:p>
        </p:txBody>
      </p:sp>
      <p:sp>
        <p:nvSpPr>
          <p:cNvPr id="15" name="Text 13"/>
          <p:cNvSpPr/>
          <p:nvPr/>
        </p:nvSpPr>
        <p:spPr>
          <a:xfrm>
            <a:off x="4992624" y="187452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thiệp thích ứng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443984" y="247802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 trị 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9288" y="16916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EDEBFB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02168" y="1874520"/>
            <a:ext cx="2377440" cy="502920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38744" y="1865376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9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2059" dirty="0"/>
          </a:p>
        </p:txBody>
      </p:sp>
      <p:sp>
        <p:nvSpPr>
          <p:cNvPr id="20" name="Text 18"/>
          <p:cNvSpPr/>
          <p:nvPr/>
        </p:nvSpPr>
        <p:spPr>
          <a:xfrm>
            <a:off x="8796528" y="187452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Thích ứng + Transfer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47888" y="247802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 trị 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1480" y="329184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2E7D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291840"/>
            <a:ext cx="5532120" cy="475488"/>
          </a:xfrm>
          <a:prstGeom prst="rect">
            <a:avLst/>
          </a:prstGeom>
          <a:solidFill>
            <a:srgbClr val="2E7DE4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" y="3291840"/>
            <a:ext cx="52578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BIẾN ĐỘC LẬP (IV)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76072" y="3858768"/>
            <a:ext cx="5202936" cy="758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 kiện can thiệp giữa 3 nhóm (cố định / thích ứng / thích ứng + transfer)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3291840"/>
            <a:ext cx="5513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291840"/>
            <a:ext cx="5513832" cy="475488"/>
          </a:xfrm>
          <a:prstGeom prst="rect">
            <a:avLst/>
          </a:prstGeom>
          <a:solidFill>
            <a:srgbClr val="2BB673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3291840"/>
            <a:ext cx="523951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BIẾN PHỤ THUỘC (DV)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28232" y="3858768"/>
            <a:ext cx="5184648" cy="758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execution rate · completion · retry · decision time mean · agency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1480" y="4892040"/>
            <a:ext cx="1136599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892040"/>
            <a:ext cx="11365992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4892040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MẪU &amp; PHƯƠNG PHÁP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76072" y="5458968"/>
            <a:ext cx="11036808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≥ 20 học sinh/nhóm · đo lặp (repeated measures) · đồng thuận + pseudonym (S001…).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CHẶT: thiết kế một nhóm pre/post không đủ kết luận nhân quả (CAUSALITY OVERCLAIM guard).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/ 15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926080" cy="420624"/>
          </a:xfrm>
          <a:prstGeom prst="roundRect">
            <a:avLst>
              <a:gd name="adj" fmla="val 21739"/>
            </a:avLst>
          </a:prstGeom>
          <a:solidFill>
            <a:srgbClr val="12967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TOÀN &amp; ĐẠO ĐỨC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nguyên tắc AI cho giáo dục THCS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296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819656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" y="1810512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★</a:t>
            </a:r>
            <a:endParaRPr lang="en-US" sz="1872" dirty="0"/>
          </a:p>
        </p:txBody>
      </p:sp>
      <p:sp>
        <p:nvSpPr>
          <p:cNvPr id="10" name="Text 8"/>
          <p:cNvSpPr/>
          <p:nvPr/>
        </p:nvSpPr>
        <p:spPr>
          <a:xfrm>
            <a:off x="1069848" y="1819656"/>
            <a:ext cx="11064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diagnosis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" y="23134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Không dán nhãn, chỉ dùng behavior signal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00984" y="16916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E7D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1819656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2E7DE4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810512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872" dirty="0"/>
          </a:p>
        </p:txBody>
      </p:sp>
      <p:sp>
        <p:nvSpPr>
          <p:cNvPr id="15" name="Text 13"/>
          <p:cNvSpPr/>
          <p:nvPr/>
        </p:nvSpPr>
        <p:spPr>
          <a:xfrm>
            <a:off x="3959352" y="1819656"/>
            <a:ext cx="11064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Tối thiểu dữ liệu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47288" y="23134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Chỉ lấy dữ liệu cần cho quyết định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0488" y="16916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0216" y="1819656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2BB673"/>
          </a:solidFill>
          <a:ln/>
        </p:spPr>
      </p:sp>
      <p:sp>
        <p:nvSpPr>
          <p:cNvPr id="19" name="Text 17"/>
          <p:cNvSpPr/>
          <p:nvPr/>
        </p:nvSpPr>
        <p:spPr>
          <a:xfrm>
            <a:off x="6336792" y="1810512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872" dirty="0"/>
          </a:p>
        </p:txBody>
      </p:sp>
      <p:sp>
        <p:nvSpPr>
          <p:cNvPr id="20" name="Text 18"/>
          <p:cNvSpPr/>
          <p:nvPr/>
        </p:nvSpPr>
        <p:spPr>
          <a:xfrm>
            <a:off x="6848856" y="1819656"/>
            <a:ext cx="11064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Đồng thuận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36792" y="23134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Consent + teacher oversight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79992" y="16916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1819656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24" name="Text 22"/>
          <p:cNvSpPr/>
          <p:nvPr/>
        </p:nvSpPr>
        <p:spPr>
          <a:xfrm>
            <a:off x="9226296" y="1810512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⚙</a:t>
            </a:r>
            <a:endParaRPr lang="en-US" sz="1872" dirty="0"/>
          </a:p>
        </p:txBody>
      </p:sp>
      <p:sp>
        <p:nvSpPr>
          <p:cNvPr id="25" name="Text 23"/>
          <p:cNvSpPr/>
          <p:nvPr/>
        </p:nvSpPr>
        <p:spPr>
          <a:xfrm>
            <a:off x="9738360" y="1819656"/>
            <a:ext cx="11064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26296" y="23134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Server-side RBAC, allow-list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11480" y="30632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" y="3191256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" y="3182112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▲</a:t>
            </a:r>
            <a:endParaRPr lang="en-US" sz="1872" dirty="0"/>
          </a:p>
        </p:txBody>
      </p:sp>
      <p:sp>
        <p:nvSpPr>
          <p:cNvPr id="30" name="Text 28"/>
          <p:cNvSpPr/>
          <p:nvPr/>
        </p:nvSpPr>
        <p:spPr>
          <a:xfrm>
            <a:off x="1069848" y="3191256"/>
            <a:ext cx="11064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Giáo viên kiểm soát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7784" y="36850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 người quyết định cuối cùng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00984" y="30632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10712" y="3191256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E4572E"/>
          </a:solidFill>
          <a:ln/>
        </p:spPr>
      </p:sp>
      <p:sp>
        <p:nvSpPr>
          <p:cNvPr id="34" name="Text 32"/>
          <p:cNvSpPr/>
          <p:nvPr/>
        </p:nvSpPr>
        <p:spPr>
          <a:xfrm>
            <a:off x="3447288" y="3182112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➤</a:t>
            </a:r>
            <a:endParaRPr lang="en-US" sz="1872" dirty="0"/>
          </a:p>
        </p:txBody>
      </p:sp>
      <p:sp>
        <p:nvSpPr>
          <p:cNvPr id="35" name="Text 33"/>
          <p:cNvSpPr/>
          <p:nvPr/>
        </p:nvSpPr>
        <p:spPr>
          <a:xfrm>
            <a:off x="3959352" y="3191256"/>
            <a:ext cx="11064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Fallback an toàn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447288" y="36850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lỗi → quyết định xác định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0488" y="30632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4B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0216" y="3191256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E24BA6"/>
          </a:solidFill>
          <a:ln/>
        </p:spPr>
      </p:sp>
      <p:sp>
        <p:nvSpPr>
          <p:cNvPr id="39" name="Text 37"/>
          <p:cNvSpPr/>
          <p:nvPr/>
        </p:nvSpPr>
        <p:spPr>
          <a:xfrm>
            <a:off x="6336792" y="3182112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▣</a:t>
            </a:r>
            <a:endParaRPr lang="en-US" sz="1872" dirty="0"/>
          </a:p>
        </p:txBody>
      </p:sp>
      <p:sp>
        <p:nvSpPr>
          <p:cNvPr id="40" name="Text 38"/>
          <p:cNvSpPr/>
          <p:nvPr/>
        </p:nvSpPr>
        <p:spPr>
          <a:xfrm>
            <a:off x="6848856" y="3191256"/>
            <a:ext cx="11064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 đầy đủ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36792" y="36850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31_AUDIT_LOG + 18_AI_DECISIONS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79992" y="306324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3D2B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89720" y="3191256"/>
            <a:ext cx="1691640" cy="457200"/>
          </a:xfrm>
          <a:prstGeom prst="roundRect">
            <a:avLst>
              <a:gd name="adj" fmla="val 18000"/>
            </a:avLst>
          </a:prstGeom>
          <a:solidFill>
            <a:srgbClr val="3D2B99"/>
          </a:solidFill>
          <a:ln/>
        </p:spPr>
      </p:sp>
      <p:sp>
        <p:nvSpPr>
          <p:cNvPr id="44" name="Text 42"/>
          <p:cNvSpPr/>
          <p:nvPr/>
        </p:nvSpPr>
        <p:spPr>
          <a:xfrm>
            <a:off x="9226296" y="3182112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2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◉</a:t>
            </a:r>
            <a:endParaRPr lang="en-US" sz="1872" dirty="0"/>
          </a:p>
        </p:txBody>
      </p:sp>
      <p:sp>
        <p:nvSpPr>
          <p:cNvPr id="45" name="Text 43"/>
          <p:cNvSpPr/>
          <p:nvPr/>
        </p:nvSpPr>
        <p:spPr>
          <a:xfrm>
            <a:off x="9738360" y="3191256"/>
            <a:ext cx="11064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Quyền chọn lựa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26296" y="36850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Học sinh giữ agency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11480" y="4526280"/>
            <a:ext cx="11365992" cy="640080"/>
          </a:xfrm>
          <a:prstGeom prst="roundRect">
            <a:avLst>
              <a:gd name="adj" fmla="val 14286"/>
            </a:avLst>
          </a:prstGeom>
          <a:solidFill>
            <a:srgbClr val="EDEBFB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4526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D2B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Trung thực là nguyên tắc số 0: dữ liệu demo gắn nhãn, lỗi kỹ thuật báo công khai, không bịa kết quả.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/ 15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3566160" cy="420624"/>
          </a:xfrm>
          <a:prstGeom prst="roundRect">
            <a:avLst>
              <a:gd name="adj" fmla="val 21739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HẠN CHẾ &amp; HƯỚNG PHÁT TRIỂN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Nói rõ giới hạn — bước tiếp theo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5532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HẠN CHẾ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" y="2295144"/>
            <a:ext cx="2834640" cy="502920"/>
          </a:xfrm>
          <a:prstGeom prst="roundRect">
            <a:avLst>
              <a:gd name="adj" fmla="val 18000"/>
            </a:avLst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8600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9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</a:t>
            </a:r>
            <a:endParaRPr lang="en-US" sz="2059" dirty="0"/>
          </a:p>
        </p:txBody>
      </p:sp>
      <p:sp>
        <p:nvSpPr>
          <p:cNvPr id="11" name="Text 9"/>
          <p:cNvSpPr/>
          <p:nvPr/>
        </p:nvSpPr>
        <p:spPr>
          <a:xfrm>
            <a:off x="1152144" y="2295144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layer đang in-memory demo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0720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nối Google Sheets; health/sync báo đúng trạng thái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342900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3575304"/>
            <a:ext cx="2834640" cy="502920"/>
          </a:xfrm>
          <a:prstGeom prst="roundRect">
            <a:avLst>
              <a:gd name="adj" fmla="val 18000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6616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9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</a:t>
            </a:r>
            <a:endParaRPr lang="en-US" sz="2059" dirty="0"/>
          </a:p>
        </p:txBody>
      </p:sp>
      <p:sp>
        <p:nvSpPr>
          <p:cNvPr id="16" name="Text 14"/>
          <p:cNvSpPr/>
          <p:nvPr/>
        </p:nvSpPr>
        <p:spPr>
          <a:xfrm>
            <a:off x="1152144" y="3575304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kỹ thuật T06 / T09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408736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Ghi can thiệp &amp; AI decision log chưa tự động cho mọi phiên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470916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" y="4855464"/>
            <a:ext cx="2834640" cy="502920"/>
          </a:xfrm>
          <a:prstGeom prst="roundRect">
            <a:avLst>
              <a:gd name="adj" fmla="val 18000"/>
            </a:avLst>
          </a:prstGeom>
          <a:solidFill>
            <a:srgbClr val="6B4E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84632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9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</a:t>
            </a:r>
            <a:endParaRPr lang="en-US" sz="2059" dirty="0"/>
          </a:p>
        </p:txBody>
      </p:sp>
      <p:sp>
        <p:nvSpPr>
          <p:cNvPr id="21" name="Text 19"/>
          <p:cNvSpPr/>
          <p:nvPr/>
        </p:nvSpPr>
        <p:spPr>
          <a:xfrm>
            <a:off x="1152144" y="4855464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có thực nghiệm thật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" y="536752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Mẫu nhỏ, chưa đánh giá dài hạn; không tuyên bố hiệu quả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645920"/>
            <a:ext cx="5532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BB6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HƯỚNG PHÁT TRIỂN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09360" y="2148840"/>
            <a:ext cx="546811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967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5664" y="2295144"/>
            <a:ext cx="2834640" cy="502920"/>
          </a:xfrm>
          <a:prstGeom prst="roundRect">
            <a:avLst>
              <a:gd name="adj" fmla="val 18000"/>
            </a:avLst>
          </a:prstGeom>
          <a:solidFill>
            <a:srgbClr val="1296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28600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9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2059" dirty="0"/>
          </a:p>
        </p:txBody>
      </p:sp>
      <p:sp>
        <p:nvSpPr>
          <p:cNvPr id="27" name="Text 25"/>
          <p:cNvSpPr/>
          <p:nvPr/>
        </p:nvSpPr>
        <p:spPr>
          <a:xfrm>
            <a:off x="7050024" y="2295144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Nối dữ liệu thật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0" y="2807208"/>
            <a:ext cx="50749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Sheets qua Apps Script: auth + LockService + upsert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3429000"/>
            <a:ext cx="546811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5664" y="3575304"/>
            <a:ext cx="2834640" cy="502920"/>
          </a:xfrm>
          <a:prstGeom prst="roundRect">
            <a:avLst>
              <a:gd name="adj" fmla="val 18000"/>
            </a:avLst>
          </a:prstGeom>
          <a:solidFill>
            <a:srgbClr val="2BB673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56616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9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2059" dirty="0"/>
          </a:p>
        </p:txBody>
      </p:sp>
      <p:sp>
        <p:nvSpPr>
          <p:cNvPr id="32" name="Text 30"/>
          <p:cNvSpPr/>
          <p:nvPr/>
        </p:nvSpPr>
        <p:spPr>
          <a:xfrm>
            <a:off x="7050024" y="3575304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Đóng gap kỹ thuật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92240" y="4087368"/>
            <a:ext cx="50749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T06: ghi can thiệp; T09: log AI mọi phiên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9360" y="4709160"/>
            <a:ext cx="546811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5664" y="4855464"/>
            <a:ext cx="2834640" cy="502920"/>
          </a:xfrm>
          <a:prstGeom prst="roundRect">
            <a:avLst>
              <a:gd name="adj" fmla="val 18000"/>
            </a:avLst>
          </a:prstGeom>
          <a:solidFill>
            <a:srgbClr val="2E7DE4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846320"/>
            <a:ext cx="46634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9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★</a:t>
            </a:r>
            <a:endParaRPr lang="en-US" sz="2059" dirty="0"/>
          </a:p>
        </p:txBody>
      </p:sp>
      <p:sp>
        <p:nvSpPr>
          <p:cNvPr id="37" name="Text 35"/>
          <p:cNvSpPr/>
          <p:nvPr/>
        </p:nvSpPr>
        <p:spPr>
          <a:xfrm>
            <a:off x="7050024" y="4855464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Thực nghiệm A/B/C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92240" y="5367528"/>
            <a:ext cx="50749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Consent + pseudonym, n≥20/nhóm, báo CI khi đủ dữ liệu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/ 15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2194560" cy="420624"/>
          </a:xfrm>
          <a:prstGeom prst="roundRect">
            <a:avLst>
              <a:gd name="adj" fmla="val 21739"/>
            </a:avLst>
          </a:prstGeom>
          <a:solidFill>
            <a:srgbClr val="3D2B9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11368735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 — đúng 3 dòng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11365992" cy="1005840"/>
          </a:xfrm>
          <a:prstGeom prst="roundRect">
            <a:avLst>
              <a:gd name="adj" fmla="val 9091"/>
            </a:avLst>
          </a:prstGeom>
          <a:solidFill>
            <a:srgbClr val="EDEBFB"/>
          </a:solidFill>
          <a:ln w="12700">
            <a:solidFill>
              <a:srgbClr val="1296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296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· VẤN ĐỀ ĐÃ XỬ LÝ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88920" y="1810512"/>
            <a:ext cx="8732520" cy="8595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Hỗ trợ tự điều chỉnh hành vi qua vòng lặp game–hành vi–thích ứng có kiểm soát; loại dữ liệu bịa khỏi luồng trình bày.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907792"/>
            <a:ext cx="11365992" cy="1005840"/>
          </a:xfrm>
          <a:prstGeom prst="roundRect">
            <a:avLst>
              <a:gd name="adj" fmla="val 9091"/>
            </a:avLst>
          </a:prstGeom>
          <a:solidFill>
            <a:srgbClr val="EDEBFB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07792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· ĐIỀU ĐÃ CHỨNG MINH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2980944"/>
            <a:ext cx="8732520" cy="8595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Kỹ thuật: E2E 18/20, bảo mật 403, AI gate + fallback + log, telemetry đo thật, demo được báo đúng (audit 1.1/5 → hệ thống trung thực).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4078224"/>
            <a:ext cx="11365992" cy="1005840"/>
          </a:xfrm>
          <a:prstGeom prst="roundRect">
            <a:avLst>
              <a:gd name="adj" fmla="val 9091"/>
            </a:avLst>
          </a:prstGeom>
          <a:solidFill>
            <a:srgbClr val="EDEBF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78224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A62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· ĐIỀU CHƯA THỂ KẾT LUẬN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88920" y="4151376"/>
            <a:ext cx="8732520" cy="8595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4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có bằng chứng can thiệp cải thiện học tập — cần thực nghiệm A/B/C đã định trước với cỡ mẫu hợp lệ.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5285232"/>
            <a:ext cx="1136599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FD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285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Nguồn: ① Repo v3.0.0 (E2E/health/quality đo trực tiếp 2026-09-15) · ② Audit Report V1.0 · ③ Master Spec trình bày KHKT V2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5961888"/>
            <a:ext cx="1136599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D2B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ơn Hội đồng đã lắng nghe — sẵn sàng trả lời Q&amp;A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11480" y="6419088"/>
            <a:ext cx="11368735" cy="12802"/>
          </a:xfrm>
          <a:prstGeom prst="rect">
            <a:avLst/>
          </a:prstGeom>
          <a:solidFill>
            <a:srgbClr val="CFD6F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A62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EduChoice-AI v3.0.0 · Dữ liệu đo trực tiếp từ repo (2026-09-15)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80015" y="64739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4E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/ 15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EduChoice-AI — Nền tảng hỗ trợ tự điều chỉnh hành vi học tập bằng AI thích ứng có kiểm soát</dc:title>
  <dc:subject>Hội đồng giám khảo KHKT</dc:subject>
  <dc:creator>EduChoice-AI Team</dc:creator>
  <cp:lastModifiedBy>EduChoice-AI Team</cp:lastModifiedBy>
  <cp:revision>1</cp:revision>
  <dcterms:created xsi:type="dcterms:W3CDTF">2026-09-15T06:03:28Z</dcterms:created>
  <dcterms:modified xsi:type="dcterms:W3CDTF">2026-09-15T06:03:28Z</dcterms:modified>
</cp:coreProperties>
</file>