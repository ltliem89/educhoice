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2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notesMasterIdLst>
    <p:notesMasterId r:id="rId35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notesMaster" Target="notesMasters/notesMaster1.xml"/><Relationship Id="rId36" Type="http://schemas.openxmlformats.org/officeDocument/2006/relationships/presProps" Target="presProps.xml"/><Relationship Id="rId37" Type="http://schemas.openxmlformats.org/officeDocument/2006/relationships/viewProps" Target="viewProps.xml"/><Relationship Id="rId38" Type="http://schemas.openxmlformats.org/officeDocument/2006/relationships/theme" Target="theme/theme1.xml"/><Relationship Id="rId3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Phát hiện</c:v>
                </c:pt>
              </c:strCache>
            </c:strRef>
          </c:tx>
          <c:spPr>
            <a:solidFill>
              <a:srgbClr val="E4572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Critical</c:v>
                  </c:pt>
                  <c:pt idx="1">
                    <c:v>High</c:v>
                  </c:pt>
                  <c:pt idx="2">
                    <c:v>Medium</c:v>
                  </c:pt>
                  <c:pt idx="3">
                    <c:v>Low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</c:v>
                </c:pt>
                <c:pt idx="1">
                  <c:v>8</c:v>
                </c:pt>
                <c:pt idx="2">
                  <c:v>10</c:v>
                </c:pt>
                <c:pt idx="3">
                  <c:v>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E244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D6DEF5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E244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PASS</c:v>
                </c:pt>
              </c:strCache>
            </c:strRef>
          </c:tx>
          <c:spPr>
            <a:solidFill>
              <a:srgbClr val="2BB67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Write</c:v>
                  </c:pt>
                  <c:pt idx="1">
                    <c:v>Read</c:v>
                  </c:pt>
                  <c:pt idx="2">
                    <c:v>Validation</c:v>
                  </c:pt>
                  <c:pt idx="3">
                    <c:v>Integrity</c:v>
                  </c:pt>
                  <c:pt idx="4">
                    <c:v>Research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</c:v>
                </c:pt>
                <c:pt idx="1">
                  <c:v>3</c:v>
                </c:pt>
                <c:pt idx="2">
                  <c:v>3</c:v>
                </c:pt>
                <c:pt idx="3">
                  <c:v>3</c:v>
                </c:pt>
                <c:pt idx="4">
                  <c:v>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FAIL</c:v>
                </c:pt>
              </c:strCache>
            </c:strRef>
          </c:tx>
          <c:spPr>
            <a:solidFill>
              <a:srgbClr val="E4572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Write</c:v>
                  </c:pt>
                  <c:pt idx="1">
                    <c:v>Read</c:v>
                  </c:pt>
                  <c:pt idx="2">
                    <c:v>Validation</c:v>
                  </c:pt>
                  <c:pt idx="3">
                    <c:v>Integrity</c:v>
                  </c:pt>
                  <c:pt idx="4">
                    <c:v>Research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2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FFFFFF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E244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D6DEF5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E244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6B4EFF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440"/>
          </a:solidFill>
          <a:ln/>
        </p:spPr>
      </p:sp>
      <p:sp>
        <p:nvSpPr>
          <p:cNvPr id="5" name="Shape 3"/>
          <p:cNvSpPr/>
          <p:nvPr/>
        </p:nvSpPr>
        <p:spPr>
          <a:xfrm>
            <a:off x="0" y="5486400"/>
            <a:ext cx="12191695" cy="1371600"/>
          </a:xfrm>
          <a:prstGeom prst="rect">
            <a:avLst/>
          </a:prstGeom>
          <a:solidFill>
            <a:srgbClr val="6B4EFF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9144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EduChoice-AI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731520" y="1645920"/>
            <a:ext cx="106070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Nền tảng hỗ trợ tự điều chỉnh hành vi học tập bằng AI thích ứng có kiểm soát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731520" y="2880360"/>
            <a:ext cx="98755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D6DEF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 bịa số liệu giả → hệ thống trung thực: kỹ thuật, dữ liệu và thử nghiệm có kiểm soát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31520" y="379476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C4E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Dự án: Hệ thống AI thích ứng có kiểm soát cho học sinh THCS · Hội đồng giám khảo KHKT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731520" y="4983480"/>
            <a:ext cx="2331720" cy="457200"/>
          </a:xfrm>
          <a:prstGeom prst="roundRect">
            <a:avLst>
              <a:gd name="adj" fmla="val 50000"/>
            </a:avLst>
          </a:prstGeom>
          <a:solidFill>
            <a:srgbClr val="7C4DFF"/>
          </a:solidFill>
          <a:ln/>
        </p:spPr>
      </p:sp>
      <p:sp>
        <p:nvSpPr>
          <p:cNvPr id="11" name="Text 9"/>
          <p:cNvSpPr/>
          <p:nvPr/>
        </p:nvSpPr>
        <p:spPr>
          <a:xfrm>
            <a:off x="731520" y="4983480"/>
            <a:ext cx="2331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Game &amp; Hành vi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3154680" y="4983480"/>
            <a:ext cx="2331720" cy="457200"/>
          </a:xfrm>
          <a:prstGeom prst="roundRect">
            <a:avLst>
              <a:gd name="adj" fmla="val 50000"/>
            </a:avLst>
          </a:prstGeom>
          <a:solidFill>
            <a:srgbClr val="7C4DFF"/>
          </a:solidFill>
          <a:ln/>
        </p:spPr>
      </p:sp>
      <p:sp>
        <p:nvSpPr>
          <p:cNvPr id="13" name="Text 11"/>
          <p:cNvSpPr/>
          <p:nvPr/>
        </p:nvSpPr>
        <p:spPr>
          <a:xfrm>
            <a:off x="3154680" y="4983480"/>
            <a:ext cx="2331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Student Model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5577840" y="4983480"/>
            <a:ext cx="2331720" cy="457200"/>
          </a:xfrm>
          <a:prstGeom prst="roundRect">
            <a:avLst>
              <a:gd name="adj" fmla="val 50000"/>
            </a:avLst>
          </a:prstGeom>
          <a:solidFill>
            <a:srgbClr val="7C4DFF"/>
          </a:solidFill>
          <a:ln/>
        </p:spPr>
      </p:sp>
      <p:sp>
        <p:nvSpPr>
          <p:cNvPr id="15" name="Text 13"/>
          <p:cNvSpPr/>
          <p:nvPr/>
        </p:nvSpPr>
        <p:spPr>
          <a:xfrm>
            <a:off x="5577840" y="4983480"/>
            <a:ext cx="2331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Rule Engine + Gemini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8001000" y="4983480"/>
            <a:ext cx="2331720" cy="457200"/>
          </a:xfrm>
          <a:prstGeom prst="roundRect">
            <a:avLst>
              <a:gd name="adj" fmla="val 50000"/>
            </a:avLst>
          </a:prstGeom>
          <a:solidFill>
            <a:srgbClr val="7C4DFF"/>
          </a:solidFill>
          <a:ln/>
        </p:spPr>
      </p:sp>
      <p:sp>
        <p:nvSpPr>
          <p:cNvPr id="17" name="Text 15"/>
          <p:cNvSpPr/>
          <p:nvPr/>
        </p:nvSpPr>
        <p:spPr>
          <a:xfrm>
            <a:off x="8001000" y="4983480"/>
            <a:ext cx="2331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Fallback an toàn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10424160" y="4983480"/>
            <a:ext cx="2331720" cy="457200"/>
          </a:xfrm>
          <a:prstGeom prst="roundRect">
            <a:avLst>
              <a:gd name="adj" fmla="val 50000"/>
            </a:avLst>
          </a:prstGeom>
          <a:solidFill>
            <a:srgbClr val="7C4DFF"/>
          </a:solidFill>
          <a:ln/>
        </p:spPr>
      </p:sp>
      <p:sp>
        <p:nvSpPr>
          <p:cNvPr id="19" name="Text 17"/>
          <p:cNvSpPr/>
          <p:nvPr/>
        </p:nvSpPr>
        <p:spPr>
          <a:xfrm>
            <a:off x="10424160" y="4983480"/>
            <a:ext cx="2331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Transfer measurable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457200" y="6565392"/>
            <a:ext cx="5486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A557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EduChoice-AI · Kính mời Hội đồng giám khảo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9997135" y="6565392"/>
            <a:ext cx="17373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4A557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EduChoice-AI v3.0.0 · 2026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1140135" y="6565392"/>
            <a:ext cx="5943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4E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0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6B4EFF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256032"/>
            <a:ext cx="82296" cy="457200"/>
          </a:xfrm>
          <a:prstGeom prst="rect">
            <a:avLst/>
          </a:prstGeom>
          <a:solidFill>
            <a:srgbClr val="8B7CFF"/>
          </a:solidFill>
          <a:ln/>
        </p:spPr>
      </p:sp>
      <p:sp>
        <p:nvSpPr>
          <p:cNvPr id="5" name="Text 3"/>
          <p:cNvSpPr/>
          <p:nvPr/>
        </p:nvSpPr>
        <p:spPr>
          <a:xfrm>
            <a:off x="621792" y="27432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8B7C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 THIỆU · ĐỘI NGŨ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868680"/>
            <a:ext cx="11277295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2400" b="1" dirty="0">
                <a:solidFill>
                  <a:srgbClr val="1E244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Đội ngũ &amp; vai trò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94360" y="2148840"/>
            <a:ext cx="11002975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3D2B9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Ai xây dựng dự án này?</a:t>
            </a:r>
            <a:endParaRPr lang="en-US" sz="1400" dirty="0"/>
          </a:p>
          <a:p>
            <a:pPr marL="342900" indent="-3429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E244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Học sinh THCS — chủ thể nghiên cứu &amp; kỹ thuật (đề xuất: 2–3 thành viên)</a:t>
            </a:r>
            <a:endParaRPr lang="en-US" sz="1400" dirty="0"/>
          </a:p>
          <a:p>
            <a:pPr marL="342900" indent="-3429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E244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OpenCode — công cụ AI hỗ trợ lập trình có kiểm soát, AI-use log đầy đủ</a:t>
            </a:r>
            <a:endParaRPr lang="en-US" sz="1400" dirty="0"/>
          </a:p>
          <a:p>
            <a:pPr marL="342900" indent="-3429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3D2B9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Phân công đề xuất</a:t>
            </a:r>
            <a:endParaRPr lang="en-US" sz="1400" dirty="0"/>
          </a:p>
          <a:p>
            <a:pPr marL="342900" indent="-3429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E244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Thành viên A — vấn đề &amp; khoa học (bối cảnh, câu hỏi, thiết kế thử nghiệm)</a:t>
            </a:r>
            <a:endParaRPr lang="en-US" sz="1400" dirty="0"/>
          </a:p>
          <a:p>
            <a:pPr marL="342900" indent="-3429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E244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Thành viên B — kỹ thuật &amp; AI (kiến trúc, rule engine, validation gate)</a:t>
            </a:r>
            <a:endParaRPr lang="en-US" sz="1400" dirty="0"/>
          </a:p>
          <a:p>
            <a:pPr marL="342900" indent="-3429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E244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Thành viên C — dữ liệu &amp; đánh giá (telemetry, công thức, QA)</a:t>
            </a:r>
            <a:endParaRPr lang="en-US" sz="1400" dirty="0"/>
          </a:p>
          <a:p>
            <a:pPr marL="342900" indent="-3429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E244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Tất cả thành viên phải giải thích được mọi con số &amp; công thức (spec §93, §192)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6254496"/>
            <a:ext cx="11277295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E4572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 Cấu trúc đội ngũ đề xuất theo đặc tả §191–193. Chưa có dữ liệu cá nhân nào trong deck.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6B4EFF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256032"/>
            <a:ext cx="82296" cy="457200"/>
          </a:xfrm>
          <a:prstGeom prst="rect">
            <a:avLst/>
          </a:prstGeom>
          <a:solidFill>
            <a:srgbClr val="6B4EFF"/>
          </a:solidFill>
          <a:ln/>
        </p:spPr>
      </p:sp>
      <p:sp>
        <p:nvSpPr>
          <p:cNvPr id="5" name="Text 3"/>
          <p:cNvSpPr/>
          <p:nvPr/>
        </p:nvSpPr>
        <p:spPr>
          <a:xfrm>
            <a:off x="621792" y="27432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6B4E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NỘI DUNG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868680"/>
            <a:ext cx="11277295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2400" b="1" dirty="0">
                <a:solidFill>
                  <a:srgbClr val="1E244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Lộ trình trình bày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457200" y="1856232"/>
            <a:ext cx="411480" cy="411480"/>
          </a:xfrm>
          <a:prstGeom prst="roundRect">
            <a:avLst>
              <a:gd name="adj" fmla="val 22222"/>
            </a:avLst>
          </a:prstGeom>
          <a:solidFill>
            <a:srgbClr val="6B4EFF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1856232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51560" y="1828800"/>
            <a:ext cx="5669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44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Vấn đề &amp; bằng chứng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812280" y="1828800"/>
            <a:ext cx="4937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A557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Tại sao cần hệ thống này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57200" y="2459736"/>
            <a:ext cx="411480" cy="411480"/>
          </a:xfrm>
          <a:prstGeom prst="roundRect">
            <a:avLst>
              <a:gd name="adj" fmla="val 22222"/>
            </a:avLst>
          </a:prstGeom>
          <a:solidFill>
            <a:srgbClr val="6B4EFF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2459736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051560" y="2432304"/>
            <a:ext cx="5669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44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Khoảng trống &amp; câu hỏi nghiên cứu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812280" y="2432304"/>
            <a:ext cx="4937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A557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What exists / What remains / RQ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57200" y="3063240"/>
            <a:ext cx="411480" cy="411480"/>
          </a:xfrm>
          <a:prstGeom prst="roundRect">
            <a:avLst>
              <a:gd name="adj" fmla="val 22222"/>
            </a:avLst>
          </a:prstGeom>
          <a:solidFill>
            <a:srgbClr val="6B4EFF"/>
          </a:solidFill>
          <a:ln/>
        </p:spPr>
      </p:sp>
      <p:sp>
        <p:nvSpPr>
          <p:cNvPr id="16" name="Text 14"/>
          <p:cNvSpPr/>
          <p:nvPr/>
        </p:nvSpPr>
        <p:spPr>
          <a:xfrm>
            <a:off x="457200" y="306324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051560" y="3035808"/>
            <a:ext cx="5669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44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Thiết kế &amp; cơ chế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812280" y="3035808"/>
            <a:ext cx="4937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A557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Closed-loop: game → behavior → adaptive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57200" y="3666744"/>
            <a:ext cx="411480" cy="411480"/>
          </a:xfrm>
          <a:prstGeom prst="roundRect">
            <a:avLst>
              <a:gd name="adj" fmla="val 22222"/>
            </a:avLst>
          </a:prstGeom>
          <a:solidFill>
            <a:srgbClr val="6B4EFF"/>
          </a:solidFill>
          <a:ln/>
        </p:spPr>
      </p:sp>
      <p:sp>
        <p:nvSpPr>
          <p:cNvPr id="20" name="Text 18"/>
          <p:cNvSpPr/>
          <p:nvPr/>
        </p:nvSpPr>
        <p:spPr>
          <a:xfrm>
            <a:off x="457200" y="3666744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4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051560" y="3639312"/>
            <a:ext cx="5669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44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Sản phẩm &amp; AI có kiểm soát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812280" y="3639312"/>
            <a:ext cx="4937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A557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Rule + Student Model + Gemini + Fallback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457200" y="4270248"/>
            <a:ext cx="411480" cy="411480"/>
          </a:xfrm>
          <a:prstGeom prst="roundRect">
            <a:avLst>
              <a:gd name="adj" fmla="val 22222"/>
            </a:avLst>
          </a:prstGeom>
          <a:solidFill>
            <a:srgbClr val="6B4EFF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4270248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5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1051560" y="4242816"/>
            <a:ext cx="5669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44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Kiểm thử &amp; dữ liệu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6812280" y="4242816"/>
            <a:ext cx="4937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A557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E2E thật, trạng thái demo được báo đúng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457200" y="4873752"/>
            <a:ext cx="411480" cy="411480"/>
          </a:xfrm>
          <a:prstGeom prst="roundRect">
            <a:avLst>
              <a:gd name="adj" fmla="val 22222"/>
            </a:avLst>
          </a:prstGeom>
          <a:solidFill>
            <a:srgbClr val="6B4EFF"/>
          </a:solidFill>
          <a:ln/>
        </p:spPr>
      </p:sp>
      <p:sp>
        <p:nvSpPr>
          <p:cNvPr id="28" name="Text 26"/>
          <p:cNvSpPr/>
          <p:nvPr/>
        </p:nvSpPr>
        <p:spPr>
          <a:xfrm>
            <a:off x="457200" y="4873752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6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1051560" y="4846320"/>
            <a:ext cx="5669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44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Công thức &amp; kết quả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812280" y="4846320"/>
            <a:ext cx="4937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A557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Được xác minh, không bịa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457200" y="5477256"/>
            <a:ext cx="411480" cy="411480"/>
          </a:xfrm>
          <a:prstGeom prst="roundRect">
            <a:avLst>
              <a:gd name="adj" fmla="val 22222"/>
            </a:avLst>
          </a:prstGeom>
          <a:solidFill>
            <a:srgbClr val="6B4EFF"/>
          </a:solidFill>
          <a:ln/>
        </p:spPr>
      </p:sp>
      <p:sp>
        <p:nvSpPr>
          <p:cNvPr id="32" name="Text 30"/>
          <p:cNvSpPr/>
          <p:nvPr/>
        </p:nvSpPr>
        <p:spPr>
          <a:xfrm>
            <a:off x="457200" y="5477256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7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1051560" y="5449824"/>
            <a:ext cx="5669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44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An toàn, hạn chế, kết luận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812280" y="5449824"/>
            <a:ext cx="4937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A557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 hạn nói rõ, next step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457200" y="6565392"/>
            <a:ext cx="5486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A557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EduChoice-AI · Nội dung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9997135" y="6565392"/>
            <a:ext cx="17373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4A557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EduChoice-AI v3.0.0 · 2026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11140135" y="6565392"/>
            <a:ext cx="5943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4E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undefined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6B4EFF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256032"/>
            <a:ext cx="82296" cy="457200"/>
          </a:xfrm>
          <a:prstGeom prst="rect">
            <a:avLst/>
          </a:prstGeom>
          <a:solidFill>
            <a:srgbClr val="6B4EFF"/>
          </a:solidFill>
          <a:ln/>
        </p:spPr>
      </p:sp>
      <p:sp>
        <p:nvSpPr>
          <p:cNvPr id="5" name="Text 3"/>
          <p:cNvSpPr/>
          <p:nvPr/>
        </p:nvSpPr>
        <p:spPr>
          <a:xfrm>
            <a:off x="621792" y="27432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6B4E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ĐẶT VẤN ĐỀ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868680"/>
            <a:ext cx="11277295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2400" b="1" dirty="0">
                <a:solidFill>
                  <a:srgbClr val="1E244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Vấn đề thực tế: hỗ trợ học sinh tự điều chỉnh hành vi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94360" y="1965960"/>
            <a:ext cx="11002975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8000"/>
              </a:lnSpc>
              <a:spcAft>
                <a:spcPts val="700"/>
              </a:spcAft>
              <a:buSzPct val="100000"/>
              <a:buChar char="•"/>
            </a:pPr>
            <a:r>
              <a:rPr lang="en-US" sz="1350" b="1" dirty="0">
                <a:solidFill>
                  <a:srgbClr val="3D2B9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01 — Học sinh biết nên làm nhưng khó làm</a:t>
            </a:r>
            <a:endParaRPr lang="en-US" sz="1350" dirty="0"/>
          </a:p>
          <a:p>
            <a:pPr marL="342900" indent="-342900">
              <a:lnSpc>
                <a:spcPct val="1080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E244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Kỹ năng học tập như lập kế hoạch, tự chủ thời gian thường không chuyển hóa thành hành vi đời thực</a:t>
            </a:r>
            <a:endParaRPr lang="en-US" sz="1350" dirty="0"/>
          </a:p>
          <a:p>
            <a:pPr marL="342900" indent="-342900">
              <a:lnSpc>
                <a:spcPct val="108000"/>
              </a:lnSpc>
              <a:spcAft>
                <a:spcPts val="700"/>
              </a:spcAft>
              <a:buSzPct val="100000"/>
              <a:buChar char="•"/>
            </a:pPr>
            <a:r>
              <a:rPr lang="en-US" sz="1350" b="1" dirty="0">
                <a:solidFill>
                  <a:srgbClr val="3D2B9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02 — Phản hồi tĩnh (static feedback) không đủ</a:t>
            </a:r>
            <a:endParaRPr lang="en-US" sz="1350" dirty="0"/>
          </a:p>
          <a:p>
            <a:pPr marL="342900" indent="-342900">
              <a:lnSpc>
                <a:spcPct val="1080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E244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Cùng một lời khuyên cho mọi học sinh bỏ qua bối cảnh hành vi thực tế của từng em</a:t>
            </a:r>
            <a:endParaRPr lang="en-US" sz="1350" dirty="0"/>
          </a:p>
          <a:p>
            <a:pPr marL="342900" indent="-342900">
              <a:lnSpc>
                <a:spcPct val="108000"/>
              </a:lnSpc>
              <a:spcAft>
                <a:spcPts val="700"/>
              </a:spcAft>
              <a:buSzPct val="100000"/>
              <a:buChar char="•"/>
            </a:pPr>
            <a:r>
              <a:rPr lang="en-US" sz="1350" b="1" dirty="0">
                <a:solidFill>
                  <a:srgbClr val="3D2B9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03 — App "dạy kỹ năng" thường chỉ là nội dung + bài quiz</a:t>
            </a:r>
            <a:endParaRPr lang="en-US" sz="1350" dirty="0"/>
          </a:p>
          <a:p>
            <a:pPr marL="342900" indent="-342900">
              <a:lnSpc>
                <a:spcPct val="1080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E244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Thiếu vòng lặp: quan sát hành vi → nhận diện tình huống → can thiệp → đo phản ứng và transfer</a:t>
            </a:r>
            <a:endParaRPr lang="en-US" sz="1350" dirty="0"/>
          </a:p>
          <a:p>
            <a:pPr marL="342900" indent="-342900">
              <a:lnSpc>
                <a:spcPct val="108000"/>
              </a:lnSpc>
              <a:spcAft>
                <a:spcPts val="700"/>
              </a:spcAft>
              <a:buSzPct val="100000"/>
              <a:buChar char="•"/>
            </a:pPr>
            <a:r>
              <a:rPr lang="en-US" sz="1350" b="1" dirty="0">
                <a:solidFill>
                  <a:srgbClr val="3D2B9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04 — Rủi ro khi dùng AI trong giáo dục</a:t>
            </a:r>
            <a:endParaRPr lang="en-US" sz="1350" dirty="0"/>
          </a:p>
          <a:p>
            <a:pPr marL="342900" indent="-342900">
              <a:lnSpc>
                <a:spcPct val="1080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E244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AI hỏng, nội dung thoát kiểm soát, hoặc "chẩn đoán" học sinh — cần lớp kiểm soát xác định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457200" y="6565392"/>
            <a:ext cx="5486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A557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EduChoice-AI · Đặt vấn đề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9997135" y="6565392"/>
            <a:ext cx="17373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4A557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EduChoice-AI v3.0.0 · 2026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1140135" y="6565392"/>
            <a:ext cx="5943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4E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undefined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6B4EFF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256032"/>
            <a:ext cx="82296" cy="457200"/>
          </a:xfrm>
          <a:prstGeom prst="rect">
            <a:avLst/>
          </a:prstGeom>
          <a:solidFill>
            <a:srgbClr val="6B4EFF"/>
          </a:solidFill>
          <a:ln/>
        </p:spPr>
      </p:sp>
      <p:sp>
        <p:nvSpPr>
          <p:cNvPr id="5" name="Text 3"/>
          <p:cNvSpPr/>
          <p:nvPr/>
        </p:nvSpPr>
        <p:spPr>
          <a:xfrm>
            <a:off x="621792" y="27432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6B4E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ĐẶT VẤN ĐỀ · BẰNG CHỨNG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868680"/>
            <a:ext cx="11277295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2400" b="1" dirty="0">
                <a:solidFill>
                  <a:srgbClr val="1E244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Bằng chứng đo được trước khi cải tiến (baseline audit)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94360" y="1965960"/>
            <a:ext cx="11002975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3D2B9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Kết quả audit độc lập trên repo (trước cải tiến):</a:t>
            </a:r>
            <a:endParaRPr lang="en-US" sz="1400" dirty="0"/>
          </a:p>
          <a:p>
            <a:pPr marL="342900" indent="-3429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E244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Điểm baseline: 1.1 / 5 → Verdict NO-GO</a:t>
            </a:r>
            <a:endParaRPr lang="en-US" sz="1400" dirty="0"/>
          </a:p>
          <a:p>
            <a:pPr marL="342900" indent="-3429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E244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4 Critical + 8 High + 10 Medium + 8 Low = 30 phát hiện</a:t>
            </a:r>
            <a:endParaRPr lang="en-US" sz="1400" dirty="0"/>
          </a:p>
          <a:p>
            <a:pPr marL="342900" indent="-3429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E244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 có xác thực thật; health/sync/E2E "tự khen"; dữ liệu nghiên cứu bịa đặt hiển thị như thật</a:t>
            </a:r>
            <a:endParaRPr lang="en-US" sz="1400" dirty="0"/>
          </a:p>
          <a:p>
            <a:pPr marL="342900" indent="-3429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3D2B9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 học rút ra (dẫn dắt đề tài):</a:t>
            </a:r>
            <a:endParaRPr lang="en-US" sz="1400" dirty="0"/>
          </a:p>
          <a:p>
            <a:pPr marL="342900" indent="-3429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E244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 hệ AI giáo dục chỉ đáng tin nếu: trung thực về dữ liệu, kiểm soát AI, và thiết kế nghiên cứu hợp lệ</a:t>
            </a:r>
            <a:endParaRPr lang="en-US" sz="14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6949440" y="2011680"/>
          <a:ext cx="475488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/>
          <p:nvPr/>
        </p:nvSpPr>
        <p:spPr>
          <a:xfrm>
            <a:off x="457200" y="6254496"/>
            <a:ext cx="11277295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E4572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 EDUCHOICE_AI_PRE_IMPROVEMENT_AUDIT_REPORT.md — audit tại working copy 2026-09-15. Số liệu là thật, lấy từ chính repo.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457200" y="6565392"/>
            <a:ext cx="5486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A557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EduChoice-AI · Đặt vấn đề · Bằng chứng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9997135" y="6565392"/>
            <a:ext cx="17373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4A557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EduChoice-AI v3.0.0 · 2026</a:t>
            </a:r>
            <a:endParaRPr lang="en-US" sz="800" dirty="0"/>
          </a:p>
        </p:txBody>
      </p:sp>
      <p:sp>
        <p:nvSpPr>
          <p:cNvPr id="12" name="Text 9"/>
          <p:cNvSpPr/>
          <p:nvPr/>
        </p:nvSpPr>
        <p:spPr>
          <a:xfrm>
            <a:off x="11140135" y="6565392"/>
            <a:ext cx="5943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4E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undefined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6B4EFF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256032"/>
            <a:ext cx="82296" cy="457200"/>
          </a:xfrm>
          <a:prstGeom prst="rect">
            <a:avLst/>
          </a:prstGeom>
          <a:solidFill>
            <a:srgbClr val="6B4EFF"/>
          </a:solidFill>
          <a:ln/>
        </p:spPr>
      </p:sp>
      <p:sp>
        <p:nvSpPr>
          <p:cNvPr id="5" name="Text 3"/>
          <p:cNvSpPr/>
          <p:nvPr/>
        </p:nvSpPr>
        <p:spPr>
          <a:xfrm>
            <a:off x="621792" y="27432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6B4E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THỰC TRẠNG &amp; KHOẢNG TRỐNG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868680"/>
            <a:ext cx="11277295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2400" b="1" dirty="0">
                <a:solidFill>
                  <a:srgbClr val="1E244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Thực trạng → Khoảng trống nghiên cứu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94360" y="1828800"/>
            <a:ext cx="11002975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1350" b="1" dirty="0">
                <a:solidFill>
                  <a:srgbClr val="3D2B9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 tồn tại (existing capabilities)</a:t>
            </a:r>
            <a:endParaRPr lang="en-US" sz="1350" dirty="0"/>
          </a:p>
          <a:p>
            <a:pPr marL="342900" indent="-3429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E244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Nền tảng học thích ứng nội dung (adaptive learning content)</a:t>
            </a:r>
            <a:endParaRPr lang="en-US" sz="1350" dirty="0"/>
          </a:p>
          <a:p>
            <a:pPr marL="342900" indent="-3429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E244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Học tập qua trò chơi (game-based learning)</a:t>
            </a:r>
            <a:endParaRPr lang="en-US" sz="1350" dirty="0"/>
          </a:p>
          <a:p>
            <a:pPr marL="342900" indent="-3429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E244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AI coaching / chatbot hỗ trợ học sinh</a:t>
            </a:r>
            <a:endParaRPr lang="en-US" sz="1350" dirty="0"/>
          </a:p>
          <a:p>
            <a:pPr marL="342900" indent="-3429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1350" b="1" dirty="0">
                <a:solidFill>
                  <a:srgbClr val="3D2B9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Còn thiếu / chưa đầy đủ (what remains incomplete)</a:t>
            </a:r>
            <a:endParaRPr lang="en-US" sz="1350" dirty="0"/>
          </a:p>
          <a:p>
            <a:pPr marL="342900" indent="-3429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E244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Vòng khép kín: hành vi trong game → tình huống → can thiệp vi mô → đo phản ứng → đo transfer</a:t>
            </a:r>
            <a:endParaRPr lang="en-US" sz="1350" dirty="0"/>
          </a:p>
          <a:p>
            <a:pPr marL="342900" indent="-3429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E244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Kiểm soát AI bằng allow-list + fallback deterministic trong cùng hệ thống</a:t>
            </a:r>
            <a:endParaRPr lang="en-US" sz="1350" dirty="0"/>
          </a:p>
          <a:p>
            <a:pPr marL="342900" indent="-3429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1350" b="1" dirty="0">
                <a:solidFill>
                  <a:srgbClr val="3D2B9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Khoảng trống của EduChoice-AI (potential integration gap)</a:t>
            </a:r>
            <a:endParaRPr lang="en-US" sz="1350" dirty="0"/>
          </a:p>
          <a:p>
            <a:pPr marL="342900" indent="-3429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E244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Tích hợp closed-loop micro-game + student model + AI bị kiểm soát + transfer measurement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457200" y="6254496"/>
            <a:ext cx="11277295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E4572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 Đặc tả §26 (không công kích sản phẩm khác; nói "potential integration gap", không nói "chưa từng có").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457200" y="6565392"/>
            <a:ext cx="5486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A557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EduChoice-AI · Thực trạng &amp; Khoảng trống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9997135" y="6565392"/>
            <a:ext cx="17373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4A557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EduChoice-AI v3.0.0 · 2026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11140135" y="6565392"/>
            <a:ext cx="5943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4E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undefined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6B4EFF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256032"/>
            <a:ext cx="82296" cy="457200"/>
          </a:xfrm>
          <a:prstGeom prst="rect">
            <a:avLst/>
          </a:prstGeom>
          <a:solidFill>
            <a:srgbClr val="8B7CFF"/>
          </a:solidFill>
          <a:ln/>
        </p:spPr>
      </p:sp>
      <p:sp>
        <p:nvSpPr>
          <p:cNvPr id="5" name="Text 3"/>
          <p:cNvSpPr/>
          <p:nvPr/>
        </p:nvSpPr>
        <p:spPr>
          <a:xfrm>
            <a:off x="621792" y="27432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8B7C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CÂU HỎI NGHIÊN CỨU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868680"/>
            <a:ext cx="11277295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2200" b="1" dirty="0">
                <a:solidFill>
                  <a:srgbClr val="1E244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Câu hỏi nghiên cứu &amp; giả thuyết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548640" y="1965960"/>
            <a:ext cx="11094415" cy="1280160"/>
          </a:xfrm>
          <a:prstGeom prst="roundRect">
            <a:avLst>
              <a:gd name="adj" fmla="val 8571"/>
            </a:avLst>
          </a:prstGeom>
          <a:solidFill>
            <a:srgbClr val="EEEAFD"/>
          </a:solidFill>
          <a:ln w="12700">
            <a:solidFill>
              <a:srgbClr val="6B4E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2148840"/>
            <a:ext cx="1045433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3D2B9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RQ:  Liệu việc nhận diện tình huống từ chuỗi hành vi, lựa chọn can thiệp thích ứng và đo phản ứng/transfer có cải thiện hiệu quả can thiệp so với phản hồi cố định không?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594360" y="3429000"/>
            <a:ext cx="11002975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8000"/>
              </a:lnSpc>
              <a:spcAft>
                <a:spcPts val="400"/>
              </a:spcAft>
              <a:buSzPct val="100000"/>
              <a:buChar char="•"/>
            </a:pPr>
            <a:r>
              <a:rPr lang="en-US" sz="1350" b="1" dirty="0">
                <a:solidFill>
                  <a:srgbClr val="3D2B9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H1</a:t>
            </a:r>
            <a:endParaRPr lang="en-US" sz="1350" dirty="0"/>
          </a:p>
          <a:p>
            <a:pPr marL="342900" indent="-342900">
              <a:lnSpc>
                <a:spcPct val="108000"/>
              </a:lnSpc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E244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 huống được nhận diện từ hành vi + can thiệp thích ứng cải thiện phản ứng (retry, hoàn thành) so với phản hồi cố định</a:t>
            </a:r>
            <a:endParaRPr lang="en-US" sz="1350" dirty="0"/>
          </a:p>
          <a:p>
            <a:pPr marL="342900" indent="-342900">
              <a:lnSpc>
                <a:spcPct val="108000"/>
              </a:lnSpc>
              <a:spcAft>
                <a:spcPts val="400"/>
              </a:spcAft>
              <a:buSzPct val="100000"/>
              <a:buChar char="•"/>
            </a:pPr>
            <a:r>
              <a:rPr lang="en-US" sz="1350" b="1" dirty="0">
                <a:solidFill>
                  <a:srgbClr val="3D2B9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H0</a:t>
            </a:r>
            <a:endParaRPr lang="en-US" sz="1350" dirty="0"/>
          </a:p>
          <a:p>
            <a:pPr marL="342900" indent="-342900">
              <a:lnSpc>
                <a:spcPct val="108000"/>
              </a:lnSpc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E244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 có khác biệt có ý nghĩa giữa hai điều kiện</a:t>
            </a:r>
            <a:endParaRPr lang="en-US" sz="1350" dirty="0"/>
          </a:p>
          <a:p>
            <a:pPr marL="342900" indent="-342900">
              <a:lnSpc>
                <a:spcPct val="108000"/>
              </a:lnSpc>
              <a:spcAft>
                <a:spcPts val="400"/>
              </a:spcAft>
              <a:buSzPct val="100000"/>
              <a:buChar char="•"/>
            </a:pPr>
            <a:r>
              <a:rPr lang="en-US" sz="1350" b="1" dirty="0">
                <a:solidFill>
                  <a:srgbClr val="2BB6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Outcome chính</a:t>
            </a:r>
            <a:endParaRPr lang="en-US" sz="1350" dirty="0"/>
          </a:p>
          <a:p>
            <a:pPr marL="342900" indent="-342900">
              <a:lnSpc>
                <a:spcPct val="108000"/>
              </a:lnSpc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E244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Transfer execution rate / Transfer Gap thu hẹp (chỉ khi dữ liệu thật có đủ)</a:t>
            </a:r>
            <a:endParaRPr lang="en-US" sz="1350" dirty="0"/>
          </a:p>
          <a:p>
            <a:pPr marL="342900" indent="-342900">
              <a:lnSpc>
                <a:spcPct val="108000"/>
              </a:lnSpc>
              <a:spcAft>
                <a:spcPts val="400"/>
              </a:spcAft>
              <a:buSzPct val="100000"/>
              <a:buChar char="•"/>
            </a:pPr>
            <a:r>
              <a:rPr lang="en-US" sz="1350" b="1" dirty="0">
                <a:solidFill>
                  <a:srgbClr val="2BB6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Outcome phụ</a:t>
            </a:r>
            <a:endParaRPr lang="en-US" sz="1350" dirty="0"/>
          </a:p>
          <a:p>
            <a:pPr marL="342900" indent="-342900">
              <a:lnSpc>
                <a:spcPct val="108000"/>
              </a:lnSpc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E244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Hoàn thành, retry, agnency, thời gian quyết định</a:t>
            </a:r>
            <a:endParaRPr lang="en-US" sz="1350" dirty="0"/>
          </a:p>
          <a:p>
            <a:pPr marL="342900" indent="-342900">
              <a:lnSpc>
                <a:spcPct val="108000"/>
              </a:lnSpc>
              <a:spcAft>
                <a:spcPts val="400"/>
              </a:spcAft>
              <a:buSzPct val="100000"/>
              <a:buChar char="•"/>
            </a:pPr>
            <a:r>
              <a:rPr lang="en-US" sz="1350" b="1" dirty="0">
                <a:solidFill>
                  <a:srgbClr val="E4572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Lưu ý</a:t>
            </a:r>
            <a:endParaRPr lang="en-US" sz="1350" dirty="0"/>
          </a:p>
          <a:p>
            <a:pPr marL="342900" indent="-342900">
              <a:lnSpc>
                <a:spcPct val="108000"/>
              </a:lnSpc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E244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Đây là giả thuyết thiết kế. Chưa có thực nghiệm học sinh thật → không tuyên bố hiệu quả (spec §27, §171)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457200" y="6565392"/>
            <a:ext cx="5486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A557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EduChoice-AI · Câu hỏi nghiên cứu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9997135" y="6565392"/>
            <a:ext cx="17373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4A557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EduChoice-AI v3.0.0 · 2026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1140135" y="6565392"/>
            <a:ext cx="5943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4E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undefined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6B4EFF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256032"/>
            <a:ext cx="82296" cy="457200"/>
          </a:xfrm>
          <a:prstGeom prst="rect">
            <a:avLst/>
          </a:prstGeom>
          <a:solidFill>
            <a:srgbClr val="6B4EFF"/>
          </a:solidFill>
          <a:ln/>
        </p:spPr>
      </p:sp>
      <p:sp>
        <p:nvSpPr>
          <p:cNvPr id="5" name="Text 3"/>
          <p:cNvSpPr/>
          <p:nvPr/>
        </p:nvSpPr>
        <p:spPr>
          <a:xfrm>
            <a:off x="621792" y="27432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6B4E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ĐÓNG GÓP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868680"/>
            <a:ext cx="11277295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2400" b="1" dirty="0">
                <a:solidFill>
                  <a:srgbClr val="1E244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Đóng góp của dự án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457200" y="2011680"/>
            <a:ext cx="1965960" cy="1005840"/>
          </a:xfrm>
          <a:prstGeom prst="roundRect">
            <a:avLst>
              <a:gd name="adj" fmla="val 10909"/>
            </a:avLst>
          </a:prstGeom>
          <a:solidFill>
            <a:srgbClr val="EEF5F0"/>
          </a:solidFill>
          <a:ln w="12700">
            <a:solidFill>
              <a:srgbClr val="2BB67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2176272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BB6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Khoa học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2697480" y="2084832"/>
            <a:ext cx="9037015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44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Behav → Situation → Intervention → Response → Transfer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3337560"/>
            <a:ext cx="1965960" cy="1005840"/>
          </a:xfrm>
          <a:prstGeom prst="roundRect">
            <a:avLst>
              <a:gd name="adj" fmla="val 10909"/>
            </a:avLst>
          </a:prstGeom>
          <a:solidFill>
            <a:srgbClr val="EEF5F0"/>
          </a:solidFill>
          <a:ln w="12700">
            <a:solidFill>
              <a:srgbClr val="6B4E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02152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B4E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Kỹ thuật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2697480" y="3410712"/>
            <a:ext cx="9037015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44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Rule + Student Model + AI có kiểm soát (allow-list + fallback)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4663440"/>
            <a:ext cx="1965960" cy="1005840"/>
          </a:xfrm>
          <a:prstGeom prst="roundRect">
            <a:avLst>
              <a:gd name="adj" fmla="val 10909"/>
            </a:avLst>
          </a:prstGeom>
          <a:solidFill>
            <a:srgbClr val="FFF6E9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" y="4828032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5A62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Giáo dục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2697480" y="4736592"/>
            <a:ext cx="9037015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44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Micro-game + retry + reflection + micro-action có thể đo lường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57200" y="6254496"/>
            <a:ext cx="11277295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E4572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 Đặc tả §28. Phân biệt rõ product/sci/evidence (đặc tả §163).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57200" y="6565392"/>
            <a:ext cx="5486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A557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EduChoice-AI · Đóng góp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9997135" y="6565392"/>
            <a:ext cx="17373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4A557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EduChoice-AI v3.0.0 · 2026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1140135" y="6565392"/>
            <a:ext cx="5943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4E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undefined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6B4EFF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256032"/>
            <a:ext cx="82296" cy="457200"/>
          </a:xfrm>
          <a:prstGeom prst="rect">
            <a:avLst/>
          </a:prstGeom>
          <a:solidFill>
            <a:srgbClr val="6B4EFF"/>
          </a:solidFill>
          <a:ln/>
        </p:spPr>
      </p:sp>
      <p:sp>
        <p:nvSpPr>
          <p:cNvPr id="5" name="Text 3"/>
          <p:cNvSpPr/>
          <p:nvPr/>
        </p:nvSpPr>
        <p:spPr>
          <a:xfrm>
            <a:off x="621792" y="27432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6B4E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TỔNG QUAN SẢN PHẨM · HỆ THỐNG KHÁI NIỆM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868680"/>
            <a:ext cx="11277295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2100" b="1" dirty="0">
                <a:solidFill>
                  <a:srgbClr val="1E244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Vòng khép kín: Game → Hành vi → Can thiệp → Transfer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566928" y="2331720"/>
            <a:ext cx="2599868" cy="685800"/>
          </a:xfrm>
          <a:prstGeom prst="roundRect">
            <a:avLst>
              <a:gd name="adj" fmla="val 12000"/>
            </a:avLst>
          </a:prstGeom>
          <a:solidFill>
            <a:srgbClr val="EDEBFB"/>
          </a:solidFill>
          <a:ln w="12700">
            <a:solidFill>
              <a:srgbClr val="6B4E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66928" y="2331720"/>
            <a:ext cx="2599868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D2B9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Game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3221660" y="2587752"/>
            <a:ext cx="164592" cy="182880"/>
          </a:xfrm>
          <a:prstGeom prst="rightArrow">
            <a:avLst/>
          </a:prstGeom>
          <a:solidFill>
            <a:srgbClr val="8B7CFF"/>
          </a:solidFill>
          <a:ln/>
        </p:spPr>
      </p:sp>
      <p:sp>
        <p:nvSpPr>
          <p:cNvPr id="10" name="Shape 8"/>
          <p:cNvSpPr/>
          <p:nvPr/>
        </p:nvSpPr>
        <p:spPr>
          <a:xfrm>
            <a:off x="3386252" y="2331720"/>
            <a:ext cx="2599868" cy="685800"/>
          </a:xfrm>
          <a:prstGeom prst="roundRect">
            <a:avLst>
              <a:gd name="adj" fmla="val 12000"/>
            </a:avLst>
          </a:prstGeom>
          <a:solidFill>
            <a:srgbClr val="EDEBFB"/>
          </a:solidFill>
          <a:ln w="12700">
            <a:solidFill>
              <a:srgbClr val="6B4E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386252" y="2331720"/>
            <a:ext cx="2599868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D2B9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Behavior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040984" y="2587752"/>
            <a:ext cx="164592" cy="182880"/>
          </a:xfrm>
          <a:prstGeom prst="rightArrow">
            <a:avLst/>
          </a:prstGeom>
          <a:solidFill>
            <a:srgbClr val="8B7CFF"/>
          </a:solidFill>
          <a:ln/>
        </p:spPr>
      </p:sp>
      <p:sp>
        <p:nvSpPr>
          <p:cNvPr id="13" name="Shape 11"/>
          <p:cNvSpPr/>
          <p:nvPr/>
        </p:nvSpPr>
        <p:spPr>
          <a:xfrm>
            <a:off x="6205576" y="2331720"/>
            <a:ext cx="2599868" cy="685800"/>
          </a:xfrm>
          <a:prstGeom prst="roundRect">
            <a:avLst>
              <a:gd name="adj" fmla="val 12000"/>
            </a:avLst>
          </a:prstGeom>
          <a:solidFill>
            <a:srgbClr val="EDEBFB"/>
          </a:solidFill>
          <a:ln w="12700">
            <a:solidFill>
              <a:srgbClr val="6B4E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205576" y="2331720"/>
            <a:ext cx="2599868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D2B9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Situation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860307" y="2587752"/>
            <a:ext cx="164592" cy="182880"/>
          </a:xfrm>
          <a:prstGeom prst="rightArrow">
            <a:avLst/>
          </a:prstGeom>
          <a:solidFill>
            <a:srgbClr val="8B7CFF"/>
          </a:solidFill>
          <a:ln/>
        </p:spPr>
      </p:sp>
      <p:sp>
        <p:nvSpPr>
          <p:cNvPr id="16" name="Shape 14"/>
          <p:cNvSpPr/>
          <p:nvPr/>
        </p:nvSpPr>
        <p:spPr>
          <a:xfrm>
            <a:off x="9024899" y="2331720"/>
            <a:ext cx="2599868" cy="685800"/>
          </a:xfrm>
          <a:prstGeom prst="roundRect">
            <a:avLst>
              <a:gd name="adj" fmla="val 12000"/>
            </a:avLst>
          </a:prstGeom>
          <a:solidFill>
            <a:srgbClr val="EDEBFB"/>
          </a:solidFill>
          <a:ln w="12700">
            <a:solidFill>
              <a:srgbClr val="6B4E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024899" y="2331720"/>
            <a:ext cx="2599868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D2B9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Student State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11679631" y="2587752"/>
            <a:ext cx="164592" cy="182880"/>
          </a:xfrm>
          <a:prstGeom prst="rightArrow">
            <a:avLst/>
          </a:prstGeom>
          <a:solidFill>
            <a:srgbClr val="8B7CFF"/>
          </a:solidFill>
          <a:ln/>
        </p:spPr>
      </p:sp>
      <p:sp>
        <p:nvSpPr>
          <p:cNvPr id="19" name="Shape 17"/>
          <p:cNvSpPr/>
          <p:nvPr/>
        </p:nvSpPr>
        <p:spPr>
          <a:xfrm>
            <a:off x="566928" y="3474720"/>
            <a:ext cx="2599868" cy="685800"/>
          </a:xfrm>
          <a:prstGeom prst="roundRect">
            <a:avLst>
              <a:gd name="adj" fmla="val 12000"/>
            </a:avLst>
          </a:prstGeom>
          <a:solidFill>
            <a:srgbClr val="EDEBFB"/>
          </a:solidFill>
          <a:ln w="12700">
            <a:solidFill>
              <a:srgbClr val="6B4E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66928" y="3474720"/>
            <a:ext cx="2599868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D2B9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Candidate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3221660" y="3730752"/>
            <a:ext cx="164592" cy="182880"/>
          </a:xfrm>
          <a:prstGeom prst="rightArrow">
            <a:avLst/>
          </a:prstGeom>
          <a:solidFill>
            <a:srgbClr val="8B7CFF"/>
          </a:solidFill>
          <a:ln/>
        </p:spPr>
      </p:sp>
      <p:sp>
        <p:nvSpPr>
          <p:cNvPr id="22" name="Shape 20"/>
          <p:cNvSpPr/>
          <p:nvPr/>
        </p:nvSpPr>
        <p:spPr>
          <a:xfrm>
            <a:off x="3386252" y="3474720"/>
            <a:ext cx="2599868" cy="685800"/>
          </a:xfrm>
          <a:prstGeom prst="roundRect">
            <a:avLst>
              <a:gd name="adj" fmla="val 12000"/>
            </a:avLst>
          </a:prstGeom>
          <a:solidFill>
            <a:srgbClr val="EDEBFB"/>
          </a:solidFill>
          <a:ln w="12700">
            <a:solidFill>
              <a:srgbClr val="6B4E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386252" y="3474720"/>
            <a:ext cx="2599868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D2B9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AI Reasoning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040984" y="3730752"/>
            <a:ext cx="164592" cy="182880"/>
          </a:xfrm>
          <a:prstGeom prst="rightArrow">
            <a:avLst/>
          </a:prstGeom>
          <a:solidFill>
            <a:srgbClr val="8B7CFF"/>
          </a:solidFill>
          <a:ln/>
        </p:spPr>
      </p:sp>
      <p:sp>
        <p:nvSpPr>
          <p:cNvPr id="25" name="Shape 23"/>
          <p:cNvSpPr/>
          <p:nvPr/>
        </p:nvSpPr>
        <p:spPr>
          <a:xfrm>
            <a:off x="6205576" y="3474720"/>
            <a:ext cx="2599868" cy="685800"/>
          </a:xfrm>
          <a:prstGeom prst="roundRect">
            <a:avLst>
              <a:gd name="adj" fmla="val 12000"/>
            </a:avLst>
          </a:prstGeom>
          <a:solidFill>
            <a:srgbClr val="FFF1E0"/>
          </a:solidFill>
          <a:ln w="12700">
            <a:solidFill>
              <a:srgbClr val="6B4E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205576" y="3474720"/>
            <a:ext cx="2599868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D2B9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Validation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8860307" y="3730752"/>
            <a:ext cx="164592" cy="182880"/>
          </a:xfrm>
          <a:prstGeom prst="rightArrow">
            <a:avLst/>
          </a:prstGeom>
          <a:solidFill>
            <a:srgbClr val="8B7CFF"/>
          </a:solidFill>
          <a:ln/>
        </p:spPr>
      </p:sp>
      <p:sp>
        <p:nvSpPr>
          <p:cNvPr id="28" name="Shape 26"/>
          <p:cNvSpPr/>
          <p:nvPr/>
        </p:nvSpPr>
        <p:spPr>
          <a:xfrm>
            <a:off x="9024899" y="3474720"/>
            <a:ext cx="2599868" cy="685800"/>
          </a:xfrm>
          <a:prstGeom prst="roundRect">
            <a:avLst>
              <a:gd name="adj" fmla="val 12000"/>
            </a:avLst>
          </a:prstGeom>
          <a:solidFill>
            <a:srgbClr val="FFF1E0"/>
          </a:solidFill>
          <a:ln w="12700">
            <a:solidFill>
              <a:srgbClr val="6B4E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024899" y="3474720"/>
            <a:ext cx="2599868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D2B9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Game Director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11679631" y="3730752"/>
            <a:ext cx="164592" cy="182880"/>
          </a:xfrm>
          <a:prstGeom prst="rightArrow">
            <a:avLst/>
          </a:prstGeom>
          <a:solidFill>
            <a:srgbClr val="8B7CFF"/>
          </a:solidFill>
          <a:ln/>
        </p:spPr>
      </p:sp>
      <p:sp>
        <p:nvSpPr>
          <p:cNvPr id="31" name="Shape 29"/>
          <p:cNvSpPr/>
          <p:nvPr/>
        </p:nvSpPr>
        <p:spPr>
          <a:xfrm>
            <a:off x="566928" y="4617720"/>
            <a:ext cx="2599868" cy="685800"/>
          </a:xfrm>
          <a:prstGeom prst="roundRect">
            <a:avLst>
              <a:gd name="adj" fmla="val 12000"/>
            </a:avLst>
          </a:prstGeom>
          <a:solidFill>
            <a:srgbClr val="EDEBFB"/>
          </a:solidFill>
          <a:ln w="12700">
            <a:solidFill>
              <a:srgbClr val="6B4EF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66928" y="4617720"/>
            <a:ext cx="2599868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D2B9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Response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3221660" y="4873752"/>
            <a:ext cx="164592" cy="182880"/>
          </a:xfrm>
          <a:prstGeom prst="rightArrow">
            <a:avLst/>
          </a:prstGeom>
          <a:solidFill>
            <a:srgbClr val="8B7CFF"/>
          </a:solidFill>
          <a:ln/>
        </p:spPr>
      </p:sp>
      <p:sp>
        <p:nvSpPr>
          <p:cNvPr id="34" name="Shape 32"/>
          <p:cNvSpPr/>
          <p:nvPr/>
        </p:nvSpPr>
        <p:spPr>
          <a:xfrm>
            <a:off x="3386252" y="4617720"/>
            <a:ext cx="2599868" cy="685800"/>
          </a:xfrm>
          <a:prstGeom prst="roundRect">
            <a:avLst>
              <a:gd name="adj" fmla="val 12000"/>
            </a:avLst>
          </a:prstGeom>
          <a:solidFill>
            <a:srgbClr val="EDEBFB"/>
          </a:solidFill>
          <a:ln w="12700">
            <a:solidFill>
              <a:srgbClr val="6B4E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386252" y="4617720"/>
            <a:ext cx="2599868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D2B9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Transfer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6040984" y="4873752"/>
            <a:ext cx="164592" cy="182880"/>
          </a:xfrm>
          <a:prstGeom prst="rightArrow">
            <a:avLst/>
          </a:prstGeom>
          <a:solidFill>
            <a:srgbClr val="8B7CFF"/>
          </a:solidFill>
          <a:ln/>
        </p:spPr>
      </p:sp>
      <p:sp>
        <p:nvSpPr>
          <p:cNvPr id="37" name="Shape 35"/>
          <p:cNvSpPr/>
          <p:nvPr/>
        </p:nvSpPr>
        <p:spPr>
          <a:xfrm>
            <a:off x="6205576" y="4617720"/>
            <a:ext cx="2599868" cy="685800"/>
          </a:xfrm>
          <a:prstGeom prst="roundRect">
            <a:avLst>
              <a:gd name="adj" fmla="val 12000"/>
            </a:avLst>
          </a:prstGeom>
          <a:solidFill>
            <a:srgbClr val="EDEBFB"/>
          </a:solidFill>
          <a:ln w="12700">
            <a:solidFill>
              <a:srgbClr val="6B4E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205576" y="4617720"/>
            <a:ext cx="2599868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D2B9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Model Update</a:t>
            </a:r>
            <a:endParaRPr lang="en-US" sz="1150" dirty="0"/>
          </a:p>
        </p:txBody>
      </p:sp>
      <p:sp>
        <p:nvSpPr>
          <p:cNvPr id="39" name="Text 37"/>
          <p:cNvSpPr/>
          <p:nvPr/>
        </p:nvSpPr>
        <p:spPr>
          <a:xfrm>
            <a:off x="457200" y="5852160"/>
            <a:ext cx="112772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4A557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 khối = 1 ý. Validation ≠ Gemini tự do: mọi lựa chọn phải qua hợp lệ hoá (đặc tả §29, §80).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457200" y="6565392"/>
            <a:ext cx="5486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A557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EduChoice-AI · Hệ thống khái niệm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9997135" y="6565392"/>
            <a:ext cx="17373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4A557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EduChoice-AI v3.0.0 · 2026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11140135" y="6565392"/>
            <a:ext cx="5943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4E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undefined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6B4EFF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256032"/>
            <a:ext cx="82296" cy="457200"/>
          </a:xfrm>
          <a:prstGeom prst="rect">
            <a:avLst/>
          </a:prstGeom>
          <a:solidFill>
            <a:srgbClr val="6B4EFF"/>
          </a:solidFill>
          <a:ln/>
        </p:spPr>
      </p:sp>
      <p:sp>
        <p:nvSpPr>
          <p:cNvPr id="5" name="Text 3"/>
          <p:cNvSpPr/>
          <p:nvPr/>
        </p:nvSpPr>
        <p:spPr>
          <a:xfrm>
            <a:off x="621792" y="27432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6B4E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KIẾN TRÚC HỆ THỐNG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868680"/>
            <a:ext cx="11277295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2100" b="1" dirty="0">
                <a:solidFill>
                  <a:srgbClr val="1E244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Kiến trúc: Interface → Intelligence → Data → Safety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920240"/>
            <a:ext cx="11277295" cy="749808"/>
          </a:xfrm>
          <a:prstGeom prst="roundRect">
            <a:avLst>
              <a:gd name="adj" fmla="val 9756"/>
            </a:avLst>
          </a:prstGeom>
          <a:solidFill>
            <a:srgbClr val="FBFBFF"/>
          </a:solidFill>
          <a:ln w="12700">
            <a:solidFill>
              <a:srgbClr val="6B4E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4360" y="1920240"/>
            <a:ext cx="51206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D2B9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Student UI / Teacher Dashboard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486400" y="1920240"/>
            <a:ext cx="62179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4A557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Giao diện React (Student / Admin / Research)</a:t>
            </a:r>
            <a:endParaRPr lang="en-US" sz="1080" dirty="0"/>
          </a:p>
        </p:txBody>
      </p:sp>
      <p:sp>
        <p:nvSpPr>
          <p:cNvPr id="10" name="Shape 8"/>
          <p:cNvSpPr/>
          <p:nvPr/>
        </p:nvSpPr>
        <p:spPr>
          <a:xfrm>
            <a:off x="457200" y="2816352"/>
            <a:ext cx="11277295" cy="749808"/>
          </a:xfrm>
          <a:prstGeom prst="roundRect">
            <a:avLst>
              <a:gd name="adj" fmla="val 9756"/>
            </a:avLst>
          </a:prstGeom>
          <a:solidFill>
            <a:srgbClr val="F1F3FF"/>
          </a:solidFill>
          <a:ln w="12700">
            <a:solidFill>
              <a:srgbClr val="6B4E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94360" y="2816352"/>
            <a:ext cx="51206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D2B9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API Bridge (Express) + Apps Script Gateway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5486400" y="2816352"/>
            <a:ext cx="62179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4A557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Auth allow-list server-side, RBAC, validation</a:t>
            </a:r>
            <a:endParaRPr lang="en-US" sz="1080" dirty="0"/>
          </a:p>
        </p:txBody>
      </p:sp>
      <p:sp>
        <p:nvSpPr>
          <p:cNvPr id="13" name="Shape 11"/>
          <p:cNvSpPr/>
          <p:nvPr/>
        </p:nvSpPr>
        <p:spPr>
          <a:xfrm>
            <a:off x="457200" y="3712464"/>
            <a:ext cx="11277295" cy="749808"/>
          </a:xfrm>
          <a:prstGeom prst="roundRect">
            <a:avLst>
              <a:gd name="adj" fmla="val 9756"/>
            </a:avLst>
          </a:prstGeom>
          <a:solidFill>
            <a:srgbClr val="FBFBFF"/>
          </a:solidFill>
          <a:ln w="12700">
            <a:solidFill>
              <a:srgbClr val="D6DEF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94360" y="3712464"/>
            <a:ext cx="51206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D2B9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Rule Engine + Student Model + Gemini (có kiểm soát)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5486400" y="3712464"/>
            <a:ext cx="62179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4A557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Deterministic safety · accumulated evidence · reasoning trong allow-list</a:t>
            </a:r>
            <a:endParaRPr lang="en-US" sz="1080" dirty="0"/>
          </a:p>
        </p:txBody>
      </p:sp>
      <p:sp>
        <p:nvSpPr>
          <p:cNvPr id="16" name="Shape 14"/>
          <p:cNvSpPr/>
          <p:nvPr/>
        </p:nvSpPr>
        <p:spPr>
          <a:xfrm>
            <a:off x="457200" y="4608576"/>
            <a:ext cx="11277295" cy="749808"/>
          </a:xfrm>
          <a:prstGeom prst="roundRect">
            <a:avLst>
              <a:gd name="adj" fmla="val 9756"/>
            </a:avLst>
          </a:prstGeom>
          <a:solidFill>
            <a:srgbClr val="F1F3FF"/>
          </a:solidFill>
          <a:ln w="12700">
            <a:solidFill>
              <a:srgbClr val="D6DEF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94360" y="4608576"/>
            <a:ext cx="51206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D2B9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Data Layer (Google Sheets theo 39 schema)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5486400" y="4608576"/>
            <a:ext cx="62179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4A557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V9 canonical: 39 sheets — hiện IN_MEMORY_MOCK, báo thật</a:t>
            </a:r>
            <a:endParaRPr lang="en-US" sz="1080" dirty="0"/>
          </a:p>
        </p:txBody>
      </p:sp>
      <p:sp>
        <p:nvSpPr>
          <p:cNvPr id="19" name="Shape 17"/>
          <p:cNvSpPr/>
          <p:nvPr/>
        </p:nvSpPr>
        <p:spPr>
          <a:xfrm>
            <a:off x="457200" y="5504688"/>
            <a:ext cx="11277295" cy="749808"/>
          </a:xfrm>
          <a:prstGeom prst="roundRect">
            <a:avLst>
              <a:gd name="adj" fmla="val 9756"/>
            </a:avLst>
          </a:prstGeom>
          <a:solidFill>
            <a:srgbClr val="FBFBFF"/>
          </a:solidFill>
          <a:ln w="12700">
            <a:solidFill>
              <a:srgbClr val="D6DEF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" y="5504688"/>
            <a:ext cx="51206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D2B9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Teacher human oversight + Audit log + AI Dec task log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5486400" y="5504688"/>
            <a:ext cx="62179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4A557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Human-in-the-loop, 31_AUDIT_LOG, 18_AI_DECISIONS</a:t>
            </a:r>
            <a:endParaRPr lang="en-US" sz="1080" dirty="0"/>
          </a:p>
        </p:txBody>
      </p:sp>
      <p:sp>
        <p:nvSpPr>
          <p:cNvPr id="22" name="Text 20"/>
          <p:cNvSpPr/>
          <p:nvPr/>
        </p:nvSpPr>
        <p:spPr>
          <a:xfrm>
            <a:off x="457200" y="6565392"/>
            <a:ext cx="5486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A557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EduChoice-AI · Kiến trúc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9997135" y="6565392"/>
            <a:ext cx="17373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4A557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EduChoice-AI v3.0.0 · 2026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11140135" y="6565392"/>
            <a:ext cx="5943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4E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undefined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6B4EFF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256032"/>
            <a:ext cx="82296" cy="457200"/>
          </a:xfrm>
          <a:prstGeom prst="rect">
            <a:avLst/>
          </a:prstGeom>
          <a:solidFill>
            <a:srgbClr val="7C4DFF"/>
          </a:solidFill>
          <a:ln/>
        </p:spPr>
      </p:sp>
      <p:sp>
        <p:nvSpPr>
          <p:cNvPr id="5" name="Text 3"/>
          <p:cNvSpPr/>
          <p:nvPr/>
        </p:nvSpPr>
        <p:spPr>
          <a:xfrm>
            <a:off x="621792" y="27432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7C4D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CƠ CHẾ THÔNG MINH · AI CÓ KIỂM SOÁT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868680"/>
            <a:ext cx="11277295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2100" b="1" dirty="0">
                <a:solidFill>
                  <a:srgbClr val="1E244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Thông minh = Rule + Student Model + AI bị kiểm soát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594360" y="1920240"/>
            <a:ext cx="11002975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400" b="1" dirty="0">
                <a:solidFill>
                  <a:srgbClr val="6B4E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Rule Engine</a:t>
            </a:r>
            <a:endParaRPr lang="en-US" sz="1400" dirty="0"/>
          </a:p>
          <a:p>
            <a:pPr marL="342900" indent="-3429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E244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an toàn + logic quyết định xác định (deterministic)</a:t>
            </a:r>
            <a:endParaRPr lang="en-US" sz="1400" dirty="0"/>
          </a:p>
          <a:p>
            <a:pPr marL="342900" indent="-3429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400" b="1" dirty="0">
                <a:solidFill>
                  <a:srgbClr val="6B4E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Student Model</a:t>
            </a:r>
            <a:endParaRPr lang="en-US" sz="1400" dirty="0"/>
          </a:p>
          <a:p>
            <a:pPr marL="342900" indent="-3429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E244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bằng chứng hành vi tích lũy (construct scores)</a:t>
            </a:r>
            <a:endParaRPr lang="en-US" sz="1400" dirty="0"/>
          </a:p>
          <a:p>
            <a:pPr marL="342900" indent="-3429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400" b="1" dirty="0">
                <a:solidFill>
                  <a:srgbClr val="7C4D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Gemini (gemini-3.8-flash)</a:t>
            </a:r>
            <a:endParaRPr lang="en-US" sz="1400" dirty="0"/>
          </a:p>
          <a:p>
            <a:pPr marL="342900" indent="-3429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E244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reasoning giữa các lựa chọn trong tập được phép</a:t>
            </a:r>
            <a:endParaRPr lang="en-US" sz="1400" dirty="0"/>
          </a:p>
          <a:p>
            <a:pPr marL="342900" indent="-3429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400" b="1" dirty="0">
                <a:solidFill>
                  <a:srgbClr val="E4572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Validation gate</a:t>
            </a:r>
            <a:endParaRPr lang="en-US" sz="1400" dirty="0"/>
          </a:p>
          <a:p>
            <a:pPr marL="342900" indent="-3429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E244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allow-list game/toolkit + range duration/difficulty + safety → ép output</a:t>
            </a:r>
            <a:endParaRPr lang="en-US" sz="1400" dirty="0"/>
          </a:p>
          <a:p>
            <a:pPr marL="342900" indent="-3429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400" b="1" dirty="0">
                <a:solidFill>
                  <a:srgbClr val="2BB6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Adaptive Engine</a:t>
            </a:r>
            <a:endParaRPr lang="en-US" sz="1400" dirty="0"/>
          </a:p>
          <a:p>
            <a:pPr marL="342900" indent="-3429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E244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lựa chọn cuối cùng sau hợp lệ hóa</a:t>
            </a:r>
            <a:endParaRPr lang="en-US" sz="1400" dirty="0"/>
          </a:p>
          <a:p>
            <a:pPr marL="342900" indent="-3429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400" b="1" dirty="0">
                <a:solidFill>
                  <a:srgbClr val="2BB6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Fallback</a:t>
            </a:r>
            <a:endParaRPr lang="en-US" sz="1400" dirty="0"/>
          </a:p>
          <a:p>
            <a:pPr marL="342900" indent="-3429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E244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Gemini lỗi → deterministic recommendation (hệ thống vẫn chạy)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5998464"/>
            <a:ext cx="112772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D2B9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Điểm then chốt: Gemini KHÔNG phải hệ thống tự trị (đặc tả §31, §80). Mọi quyết định AI được ghi 18_AI_DECISIONS.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565392"/>
            <a:ext cx="5486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A557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EduChoice-AI · Cơ chế thông minh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9997135" y="6565392"/>
            <a:ext cx="17373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4A557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EduChoice-AI v3.0.0 · 2026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11140135" y="6565392"/>
            <a:ext cx="5943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4E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undefined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6B4EFF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256032"/>
            <a:ext cx="82296" cy="457200"/>
          </a:xfrm>
          <a:prstGeom prst="rect">
            <a:avLst/>
          </a:prstGeom>
          <a:solidFill>
            <a:srgbClr val="6B4EFF"/>
          </a:solidFill>
          <a:ln/>
        </p:spPr>
      </p:sp>
      <p:sp>
        <p:nvSpPr>
          <p:cNvPr id="5" name="Text 3"/>
          <p:cNvSpPr/>
          <p:nvPr/>
        </p:nvSpPr>
        <p:spPr>
          <a:xfrm>
            <a:off x="621792" y="27432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6B4E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THIẾT KẾ THỬ NGHIỆM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868680"/>
            <a:ext cx="11277295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2100" b="1" dirty="0">
                <a:solidFill>
                  <a:srgbClr val="1E244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Thiết kế so sánh đề xuất (đã định trước metric)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594360" y="2103120"/>
            <a:ext cx="3484778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94360" y="2103120"/>
            <a:ext cx="3484778" cy="640080"/>
          </a:xfrm>
          <a:prstGeom prst="rect">
            <a:avLst/>
          </a:prstGeom>
          <a:solidFill>
            <a:srgbClr val="E4572E"/>
          </a:solidFill>
          <a:ln/>
        </p:spPr>
      </p:sp>
      <p:sp>
        <p:nvSpPr>
          <p:cNvPr id="9" name="Text 7"/>
          <p:cNvSpPr/>
          <p:nvPr/>
        </p:nvSpPr>
        <p:spPr>
          <a:xfrm>
            <a:off x="594360" y="2103120"/>
            <a:ext cx="3484778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 A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31520" y="2926080"/>
            <a:ext cx="3210458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E244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Game → Phản hồi cố định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31520" y="3703320"/>
            <a:ext cx="3210458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A557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Đối chứng tĩnh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353458" y="2103120"/>
            <a:ext cx="3484778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2BB67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353458" y="2103120"/>
            <a:ext cx="3484778" cy="640080"/>
          </a:xfrm>
          <a:prstGeom prst="rect">
            <a:avLst/>
          </a:prstGeom>
          <a:solidFill>
            <a:srgbClr val="2BB673"/>
          </a:solidFill>
          <a:ln/>
        </p:spPr>
      </p:sp>
      <p:sp>
        <p:nvSpPr>
          <p:cNvPr id="14" name="Text 12"/>
          <p:cNvSpPr/>
          <p:nvPr/>
        </p:nvSpPr>
        <p:spPr>
          <a:xfrm>
            <a:off x="4353458" y="2103120"/>
            <a:ext cx="3484778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 B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490618" y="2926080"/>
            <a:ext cx="3210458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E244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Hành vi → Can thiệp thích ứng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490618" y="3703320"/>
            <a:ext cx="3210458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A557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Điều trị 1 (adaptive)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8112557" y="2103120"/>
            <a:ext cx="3484778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6B4E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112557" y="2103120"/>
            <a:ext cx="3484778" cy="640080"/>
          </a:xfrm>
          <a:prstGeom prst="rect">
            <a:avLst/>
          </a:prstGeom>
          <a:solidFill>
            <a:srgbClr val="6B4EFF"/>
          </a:solidFill>
          <a:ln/>
        </p:spPr>
      </p:sp>
      <p:sp>
        <p:nvSpPr>
          <p:cNvPr id="19" name="Text 17"/>
          <p:cNvSpPr/>
          <p:nvPr/>
        </p:nvSpPr>
        <p:spPr>
          <a:xfrm>
            <a:off x="8112557" y="2103120"/>
            <a:ext cx="3484778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 C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8249717" y="2926080"/>
            <a:ext cx="3210458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E244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Hành vi → Can thiệp thích ứng → Transfer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249717" y="3703320"/>
            <a:ext cx="3210458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A557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Điều trị 2 (adaptive + transfer)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594360" y="4709160"/>
            <a:ext cx="11002975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3D2B9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Trạng thái thật:</a:t>
            </a:r>
            <a:endParaRPr lang="en-US" sz="1350" dirty="0"/>
          </a:p>
          <a:p>
            <a:pPr marL="342900" indent="-3429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E244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Chưa có thực nghiệm học sinh → deck trình bày thiết kế đã định trước (pre-registered), KHÔNG báo kết quả giả (đặc tả §33, §171)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457200" y="6565392"/>
            <a:ext cx="5486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A557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EduChoice-AI · Thiết kế thử nghiệm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9997135" y="6565392"/>
            <a:ext cx="17373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4A557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EduChoice-AI v3.0.0 · 2026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11140135" y="6565392"/>
            <a:ext cx="5943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4E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undefined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6B4EFF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256032"/>
            <a:ext cx="82296" cy="457200"/>
          </a:xfrm>
          <a:prstGeom prst="rect">
            <a:avLst/>
          </a:prstGeom>
          <a:solidFill>
            <a:srgbClr val="2BB673"/>
          </a:solidFill>
          <a:ln/>
        </p:spPr>
      </p:sp>
      <p:sp>
        <p:nvSpPr>
          <p:cNvPr id="5" name="Text 3"/>
          <p:cNvSpPr/>
          <p:nvPr/>
        </p:nvSpPr>
        <p:spPr>
          <a:xfrm>
            <a:off x="621792" y="27432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2BB6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TỔNG QUAN SẢN PHẨM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868680"/>
            <a:ext cx="11277295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2400" b="1" dirty="0">
                <a:solidFill>
                  <a:srgbClr val="1E244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Sản phẩm: micro-games + toolkit + schema dữ liệu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640080" y="2103120"/>
            <a:ext cx="23774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6B4E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14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685800" y="2880360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A557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src/data/defaultGames.ts (14 gameId entries, verified by scan)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3200400" y="2103120"/>
            <a:ext cx="25603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BB6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13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3246120" y="288036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A557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src/data/approvedToolkits.ts (13 approved toolkit ids)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5852160" y="2103120"/>
            <a:ext cx="28346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5A62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39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897880" y="2880360"/>
            <a:ext cx="27432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A557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src/data/v9SchemaRegistry.ts (V9_CANONICAL_SCHEMAS)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8778240" y="2103120"/>
            <a:ext cx="30175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7C4D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45</a:t>
            </a:r>
            <a:endParaRPr lang="en-US" sz="4000" dirty="0"/>
          </a:p>
        </p:txBody>
      </p:sp>
      <p:sp>
        <p:nvSpPr>
          <p:cNvPr id="14" name="Text 12"/>
          <p:cNvSpPr/>
          <p:nvPr/>
        </p:nvSpPr>
        <p:spPr>
          <a:xfrm>
            <a:off x="8823960" y="2880360"/>
            <a:ext cx="29260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A557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server.ts (45 app.get/post routes, verified by scan)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594360" y="3977640"/>
            <a:ext cx="11002975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350" b="1" dirty="0">
                <a:solidFill>
                  <a:srgbClr val="3D2B9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Trải nghiệm học sinh (HOOK → CHOICE → CONSEQUENCE → RETRY)</a:t>
            </a:r>
            <a:endParaRPr lang="en-US" sz="1350" dirty="0"/>
          </a:p>
          <a:p>
            <a:pPr marL="342900" indent="-3429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E244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Ví dụ game: «48 phút cuối trước giờ nộp bài», «Chiếc bẫy ngày Chủ Nhật», «Cơn sốt bình luận trên mạng»</a:t>
            </a:r>
            <a:endParaRPr lang="en-US" sz="1350" dirty="0"/>
          </a:p>
          <a:p>
            <a:pPr marL="342900" indent="-3429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E244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Sau game: reflection → recommendation → micro-action 5 phút ngoài đời thực</a:t>
            </a:r>
            <a:endParaRPr lang="en-US" sz="1350" dirty="0"/>
          </a:p>
          <a:p>
            <a:pPr marL="342900" indent="-3429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350" b="1" dirty="0">
                <a:solidFill>
                  <a:srgbClr val="3D2B9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Trải nghiệm giáo viên</a:t>
            </a:r>
            <a:endParaRPr lang="en-US" sz="1350" dirty="0"/>
          </a:p>
          <a:p>
            <a:pPr marL="342900" indent="-3429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E244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Dashboard: signal → evidence → recommendation → reason → confidence → action (đặc tả §83, §146)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457200" y="6565392"/>
            <a:ext cx="5486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A557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EduChoice-AI · Tổng quan sản phẩm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9997135" y="6565392"/>
            <a:ext cx="17373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4A557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EduChoice-AI v3.0.0 · 2026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11140135" y="6565392"/>
            <a:ext cx="5943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4E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undefined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6B4EFF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256032"/>
            <a:ext cx="82296" cy="457200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5" name="Text 3"/>
          <p:cNvSpPr/>
          <p:nvPr/>
        </p:nvSpPr>
        <p:spPr>
          <a:xfrm>
            <a:off x="621792" y="27432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5A62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VÒNG ĐỜI DỮ LIỆU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868680"/>
            <a:ext cx="11277295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2100" b="1" dirty="0">
                <a:solidFill>
                  <a:srgbClr val="1E244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 sự kiện thô → bối cảnh tối thiểu → AI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640080" y="2286000"/>
            <a:ext cx="2377440" cy="914400"/>
          </a:xfrm>
          <a:prstGeom prst="roundRect">
            <a:avLst>
              <a:gd name="adj" fmla="val 10000"/>
            </a:avLst>
          </a:prstGeom>
          <a:solidFill>
            <a:srgbClr val="EDEBFB"/>
          </a:solidFill>
          <a:ln w="12700">
            <a:solidFill>
              <a:srgbClr val="6B4E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2359152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3D2B9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Raw events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731520" y="2724912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4A557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sự kiện vi mô (chọn, dừng, trợ giúp, chuyển scene)</a:t>
            </a:r>
            <a:endParaRPr lang="en-US" sz="880" dirty="0"/>
          </a:p>
        </p:txBody>
      </p:sp>
      <p:sp>
        <p:nvSpPr>
          <p:cNvPr id="10" name="Shape 8"/>
          <p:cNvSpPr/>
          <p:nvPr/>
        </p:nvSpPr>
        <p:spPr>
          <a:xfrm>
            <a:off x="2971800" y="2651760"/>
            <a:ext cx="457200" cy="182880"/>
          </a:xfrm>
          <a:prstGeom prst="rightArrow">
            <a:avLst/>
          </a:prstGeom>
          <a:solidFill>
            <a:srgbClr val="8B7CFF"/>
          </a:solidFill>
          <a:ln/>
        </p:spPr>
      </p:sp>
      <p:sp>
        <p:nvSpPr>
          <p:cNvPr id="11" name="Shape 9"/>
          <p:cNvSpPr/>
          <p:nvPr/>
        </p:nvSpPr>
        <p:spPr>
          <a:xfrm>
            <a:off x="3474720" y="2286000"/>
            <a:ext cx="2377440" cy="914400"/>
          </a:xfrm>
          <a:prstGeom prst="roundRect">
            <a:avLst>
              <a:gd name="adj" fmla="val 10000"/>
            </a:avLst>
          </a:prstGeom>
          <a:solidFill>
            <a:srgbClr val="EDEBFB"/>
          </a:solidFill>
          <a:ln w="12700">
            <a:solidFill>
              <a:srgbClr val="6B4E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474720" y="2359152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3D2B9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Contextualized summary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3566160" y="2724912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4A557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tóm tắt ngữ cảnh đã chuẩn hóa</a:t>
            </a:r>
            <a:endParaRPr lang="en-US" sz="880" dirty="0"/>
          </a:p>
        </p:txBody>
      </p:sp>
      <p:sp>
        <p:nvSpPr>
          <p:cNvPr id="14" name="Shape 12"/>
          <p:cNvSpPr/>
          <p:nvPr/>
        </p:nvSpPr>
        <p:spPr>
          <a:xfrm>
            <a:off x="5806440" y="2651760"/>
            <a:ext cx="457200" cy="182880"/>
          </a:xfrm>
          <a:prstGeom prst="rightArrow">
            <a:avLst/>
          </a:prstGeom>
          <a:solidFill>
            <a:srgbClr val="8B7CFF"/>
          </a:solidFill>
          <a:ln/>
        </p:spPr>
      </p:sp>
      <p:sp>
        <p:nvSpPr>
          <p:cNvPr id="15" name="Shape 13"/>
          <p:cNvSpPr/>
          <p:nvPr/>
        </p:nvSpPr>
        <p:spPr>
          <a:xfrm>
            <a:off x="6309360" y="2286000"/>
            <a:ext cx="2377440" cy="914400"/>
          </a:xfrm>
          <a:prstGeom prst="roundRect">
            <a:avLst>
              <a:gd name="adj" fmla="val 10000"/>
            </a:avLst>
          </a:prstGeom>
          <a:solidFill>
            <a:srgbClr val="EDEBFB"/>
          </a:solidFill>
          <a:ln w="12700">
            <a:solidFill>
              <a:srgbClr val="6B4E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309360" y="2359152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3D2B9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Minimized context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6400800" y="2724912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4A557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 gửi tối thiểu cần thiết</a:t>
            </a:r>
            <a:endParaRPr lang="en-US" sz="880" dirty="0"/>
          </a:p>
        </p:txBody>
      </p:sp>
      <p:sp>
        <p:nvSpPr>
          <p:cNvPr id="18" name="Shape 16"/>
          <p:cNvSpPr/>
          <p:nvPr/>
        </p:nvSpPr>
        <p:spPr>
          <a:xfrm>
            <a:off x="8641080" y="2651760"/>
            <a:ext cx="457200" cy="182880"/>
          </a:xfrm>
          <a:prstGeom prst="rightArrow">
            <a:avLst/>
          </a:prstGeom>
          <a:solidFill>
            <a:srgbClr val="8B7CFF"/>
          </a:solidFill>
          <a:ln/>
        </p:spPr>
      </p:sp>
      <p:sp>
        <p:nvSpPr>
          <p:cNvPr id="19" name="Shape 17"/>
          <p:cNvSpPr/>
          <p:nvPr/>
        </p:nvSpPr>
        <p:spPr>
          <a:xfrm>
            <a:off x="9144000" y="2286000"/>
            <a:ext cx="2377440" cy="914400"/>
          </a:xfrm>
          <a:prstGeom prst="roundRect">
            <a:avLst>
              <a:gd name="adj" fmla="val 10000"/>
            </a:avLst>
          </a:prstGeom>
          <a:solidFill>
            <a:srgbClr val="EDEBFB"/>
          </a:solidFill>
          <a:ln w="12700">
            <a:solidFill>
              <a:srgbClr val="6B4E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144000" y="2359152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3D2B9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Gemini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9235440" y="2724912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4A557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reasoning trong allow-list</a:t>
            </a:r>
            <a:endParaRPr lang="en-US" sz="880" dirty="0"/>
          </a:p>
        </p:txBody>
      </p:sp>
      <p:sp>
        <p:nvSpPr>
          <p:cNvPr id="22" name="Text 20"/>
          <p:cNvSpPr/>
          <p:nvPr/>
        </p:nvSpPr>
        <p:spPr>
          <a:xfrm>
            <a:off x="457200" y="3520440"/>
            <a:ext cx="112772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4A557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 gửi PII không cần thiết. Mỗi loại dữ liệu đều có purpose/decision/value/risk (đặc tả §81–82).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94360" y="3977640"/>
            <a:ext cx="11002975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8000"/>
              </a:lnSpc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3D2B9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Telemetry thật (không nhét hằng số)</a:t>
            </a:r>
            <a:endParaRPr lang="en-US" sz="1300" dirty="0"/>
          </a:p>
          <a:p>
            <a:pPr marL="342900" indent="-342900">
              <a:lnSpc>
                <a:spcPct val="1080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E244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GameRuntime đo: startedAt, pauseCount, helpCount, taskSwitchCount, durationMs, score, completionRate, decisionTimeMeanMs (GameRuntime.tsx:55–163)</a:t>
            </a:r>
            <a:endParaRPr lang="en-US" sz="1300" dirty="0"/>
          </a:p>
          <a:p>
            <a:pPr marL="342900" indent="-342900">
              <a:lnSpc>
                <a:spcPct val="108000"/>
              </a:lnSpc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3D2B9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Write-After-Read &amp; idempotency</a:t>
            </a:r>
            <a:endParaRPr lang="en-US" sz="1300" dirty="0"/>
          </a:p>
          <a:p>
            <a:pPr marL="342900" indent="-342900">
              <a:lnSpc>
                <a:spcPct val="1080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E244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Read-after-write verification + chống ghi trùng (requestId) — test T13/T16 PASS</a:t>
            </a:r>
            <a:endParaRPr lang="en-US" sz="1300" dirty="0"/>
          </a:p>
          <a:p>
            <a:pPr marL="342900" indent="-342900">
              <a:lnSpc>
                <a:spcPct val="108000"/>
              </a:lnSpc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3D2B9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Trạng thái trung thực</a:t>
            </a:r>
            <a:endParaRPr lang="en-US" sz="1300" dirty="0"/>
          </a:p>
          <a:p>
            <a:pPr marL="342900" indent="-342900">
              <a:lnSpc>
                <a:spcPct val="1080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E244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getDataQualityMetrics → dataSource IN_MEMORY_MOCK, demoMode true, 40 records</a:t>
            </a:r>
            <a:endParaRPr lang="en-US" sz="1300" dirty="0"/>
          </a:p>
          <a:p>
            <a:pPr marL="342900" indent="-342900">
              <a:lnSpc>
                <a:spcPct val="1080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E244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V10 health → appsScript/spreadsheet offline, tablesCount 39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57200" y="6565392"/>
            <a:ext cx="5486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A557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EduChoice-AI · Vòng đời dữ liệu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9997135" y="6565392"/>
            <a:ext cx="17373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4A557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EduChoice-AI v3.0.0 · 2026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11140135" y="6565392"/>
            <a:ext cx="5943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4E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undefined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6B4EFF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256032"/>
            <a:ext cx="82296" cy="457200"/>
          </a:xfrm>
          <a:prstGeom prst="rect">
            <a:avLst/>
          </a:prstGeom>
          <a:solidFill>
            <a:srgbClr val="8B7CFF"/>
          </a:solidFill>
          <a:ln/>
        </p:spPr>
      </p:sp>
      <p:sp>
        <p:nvSpPr>
          <p:cNvPr id="5" name="Text 3"/>
          <p:cNvSpPr/>
          <p:nvPr/>
        </p:nvSpPr>
        <p:spPr>
          <a:xfrm>
            <a:off x="621792" y="27432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8B7C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DEMO · LUỒNG HOẠT ĐỘNG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868680"/>
            <a:ext cx="11277295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2100" b="1" dirty="0">
                <a:solidFill>
                  <a:srgbClr val="1E244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Demo: 8 bước từ vào game đến transfer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594360" y="2148840"/>
            <a:ext cx="2545004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8B7C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04088" y="2258568"/>
            <a:ext cx="411480" cy="411480"/>
          </a:xfrm>
          <a:prstGeom prst="roundRect">
            <a:avLst>
              <a:gd name="adj" fmla="val 13333"/>
            </a:avLst>
          </a:prstGeom>
          <a:solidFill>
            <a:srgbClr val="8B7CFF"/>
          </a:solidFill>
          <a:ln/>
        </p:spPr>
      </p:sp>
      <p:sp>
        <p:nvSpPr>
          <p:cNvPr id="9" name="Text 7"/>
          <p:cNvSpPr/>
          <p:nvPr/>
        </p:nvSpPr>
        <p:spPr>
          <a:xfrm>
            <a:off x="704088" y="2258568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58952" y="2651760"/>
            <a:ext cx="227068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44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Start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3413684" y="2148840"/>
            <a:ext cx="2545004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8B7CF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523412" y="2258568"/>
            <a:ext cx="411480" cy="411480"/>
          </a:xfrm>
          <a:prstGeom prst="roundRect">
            <a:avLst>
              <a:gd name="adj" fmla="val 13333"/>
            </a:avLst>
          </a:prstGeom>
          <a:solidFill>
            <a:srgbClr val="8B7CFF"/>
          </a:solidFill>
          <a:ln/>
        </p:spPr>
      </p:sp>
      <p:sp>
        <p:nvSpPr>
          <p:cNvPr id="13" name="Text 11"/>
          <p:cNvSpPr/>
          <p:nvPr/>
        </p:nvSpPr>
        <p:spPr>
          <a:xfrm>
            <a:off x="3523412" y="2258568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578276" y="2651760"/>
            <a:ext cx="227068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44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Play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233008" y="2148840"/>
            <a:ext cx="2545004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8B7C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342736" y="2258568"/>
            <a:ext cx="411480" cy="411480"/>
          </a:xfrm>
          <a:prstGeom prst="roundRect">
            <a:avLst>
              <a:gd name="adj" fmla="val 13333"/>
            </a:avLst>
          </a:prstGeom>
          <a:solidFill>
            <a:srgbClr val="8B7CFF"/>
          </a:solidFill>
          <a:ln/>
        </p:spPr>
      </p:sp>
      <p:sp>
        <p:nvSpPr>
          <p:cNvPr id="17" name="Text 15"/>
          <p:cNvSpPr/>
          <p:nvPr/>
        </p:nvSpPr>
        <p:spPr>
          <a:xfrm>
            <a:off x="6342736" y="2258568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397600" y="2651760"/>
            <a:ext cx="227068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44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Behavior captured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9052331" y="2148840"/>
            <a:ext cx="2545004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8B7C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162059" y="2258568"/>
            <a:ext cx="411480" cy="411480"/>
          </a:xfrm>
          <a:prstGeom prst="roundRect">
            <a:avLst>
              <a:gd name="adj" fmla="val 13333"/>
            </a:avLst>
          </a:prstGeom>
          <a:solidFill>
            <a:srgbClr val="8B7CFF"/>
          </a:solidFill>
          <a:ln/>
        </p:spPr>
      </p:sp>
      <p:sp>
        <p:nvSpPr>
          <p:cNvPr id="21" name="Text 19"/>
          <p:cNvSpPr/>
          <p:nvPr/>
        </p:nvSpPr>
        <p:spPr>
          <a:xfrm>
            <a:off x="9162059" y="2258568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4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9216923" y="2651760"/>
            <a:ext cx="227068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44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Situation recognized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594360" y="3383280"/>
            <a:ext cx="2545004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8B7C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04088" y="3493008"/>
            <a:ext cx="411480" cy="411480"/>
          </a:xfrm>
          <a:prstGeom prst="roundRect">
            <a:avLst>
              <a:gd name="adj" fmla="val 13333"/>
            </a:avLst>
          </a:prstGeom>
          <a:solidFill>
            <a:srgbClr val="8B7CFF"/>
          </a:solidFill>
          <a:ln/>
        </p:spPr>
      </p:sp>
      <p:sp>
        <p:nvSpPr>
          <p:cNvPr id="25" name="Text 23"/>
          <p:cNvSpPr/>
          <p:nvPr/>
        </p:nvSpPr>
        <p:spPr>
          <a:xfrm>
            <a:off x="704088" y="3493008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5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758952" y="3886200"/>
            <a:ext cx="227068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44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Recommendation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3413684" y="3383280"/>
            <a:ext cx="2545004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8B7C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523412" y="3493008"/>
            <a:ext cx="411480" cy="411480"/>
          </a:xfrm>
          <a:prstGeom prst="roundRect">
            <a:avLst>
              <a:gd name="adj" fmla="val 13333"/>
            </a:avLst>
          </a:prstGeom>
          <a:solidFill>
            <a:srgbClr val="8B7CFF"/>
          </a:solidFill>
          <a:ln/>
        </p:spPr>
      </p:sp>
      <p:sp>
        <p:nvSpPr>
          <p:cNvPr id="29" name="Text 27"/>
          <p:cNvSpPr/>
          <p:nvPr/>
        </p:nvSpPr>
        <p:spPr>
          <a:xfrm>
            <a:off x="3523412" y="3493008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6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3578276" y="3886200"/>
            <a:ext cx="227068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44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Intervention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6233008" y="3383280"/>
            <a:ext cx="2545004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8B7C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342736" y="3493008"/>
            <a:ext cx="411480" cy="411480"/>
          </a:xfrm>
          <a:prstGeom prst="roundRect">
            <a:avLst>
              <a:gd name="adj" fmla="val 13333"/>
            </a:avLst>
          </a:prstGeom>
          <a:solidFill>
            <a:srgbClr val="8B7CFF"/>
          </a:solidFill>
          <a:ln/>
        </p:spPr>
      </p:sp>
      <p:sp>
        <p:nvSpPr>
          <p:cNvPr id="33" name="Text 31"/>
          <p:cNvSpPr/>
          <p:nvPr/>
        </p:nvSpPr>
        <p:spPr>
          <a:xfrm>
            <a:off x="6342736" y="3493008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7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6397600" y="3886200"/>
            <a:ext cx="227068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44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Retry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9052331" y="3383280"/>
            <a:ext cx="2545004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8B7C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9162059" y="3493008"/>
            <a:ext cx="411480" cy="411480"/>
          </a:xfrm>
          <a:prstGeom prst="roundRect">
            <a:avLst>
              <a:gd name="adj" fmla="val 13333"/>
            </a:avLst>
          </a:prstGeom>
          <a:solidFill>
            <a:srgbClr val="8B7CFF"/>
          </a:solidFill>
          <a:ln/>
        </p:spPr>
      </p:sp>
      <p:sp>
        <p:nvSpPr>
          <p:cNvPr id="37" name="Text 35"/>
          <p:cNvSpPr/>
          <p:nvPr/>
        </p:nvSpPr>
        <p:spPr>
          <a:xfrm>
            <a:off x="9162059" y="3493008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8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9216923" y="3886200"/>
            <a:ext cx="227068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44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Transfer</a:t>
            </a:r>
            <a:endParaRPr lang="en-US" sz="1150" dirty="0"/>
          </a:p>
        </p:txBody>
      </p:sp>
      <p:sp>
        <p:nvSpPr>
          <p:cNvPr id="39" name="Text 37"/>
          <p:cNvSpPr/>
          <p:nvPr/>
        </p:nvSpPr>
        <p:spPr>
          <a:xfrm>
            <a:off x="457200" y="5120640"/>
            <a:ext cx="112772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4A557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Demo kịch bản: 1) bình thường → 2) khó khăn → 3) hệ thống thích ứng → 4) phản ứng → 5) transfer (đặc tả §74–75).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457200" y="6565392"/>
            <a:ext cx="5486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A557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EduChoice-AI · Demo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9997135" y="6565392"/>
            <a:ext cx="17373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4A557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EduChoice-AI v3.0.0 · 2026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11140135" y="6565392"/>
            <a:ext cx="5943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4E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undefined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6B4EFF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256032"/>
            <a:ext cx="82296" cy="457200"/>
          </a:xfrm>
          <a:prstGeom prst="rect">
            <a:avLst/>
          </a:prstGeom>
          <a:solidFill>
            <a:srgbClr val="2BB673"/>
          </a:solidFill>
          <a:ln/>
        </p:spPr>
      </p:sp>
      <p:sp>
        <p:nvSpPr>
          <p:cNvPr id="5" name="Text 3"/>
          <p:cNvSpPr/>
          <p:nvPr/>
        </p:nvSpPr>
        <p:spPr>
          <a:xfrm>
            <a:off x="621792" y="27432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2BB6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KẾT QUẢ CHÍNH · KIỂM THỬ KỸ THUẬT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868680"/>
            <a:ext cx="11277295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2100" b="1" dirty="0">
                <a:solidFill>
                  <a:srgbClr val="1E244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Kết quả đo được (thật, không tô hồng)</a:t>
            </a:r>
            <a:endParaRPr lang="en-US" sz="21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6675120" y="2057400"/>
          <a:ext cx="502920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Text 5"/>
          <p:cNvSpPr/>
          <p:nvPr/>
        </p:nvSpPr>
        <p:spPr>
          <a:xfrm>
            <a:off x="640080" y="2057400"/>
            <a:ext cx="23774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BB6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18/20</a:t>
            </a:r>
            <a:endParaRPr lang="en-US" sz="4000" dirty="0"/>
          </a:p>
        </p:txBody>
      </p:sp>
      <p:sp>
        <p:nvSpPr>
          <p:cNvPr id="9" name="Text 6"/>
          <p:cNvSpPr/>
          <p:nvPr/>
        </p:nvSpPr>
        <p:spPr>
          <a:xfrm>
            <a:off x="685800" y="2834640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A557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Đo 2026-09-15 · runE2ETests()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2834640" y="2057400"/>
            <a:ext cx="2743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4572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endParaRPr lang="en-US" sz="4000" dirty="0"/>
          </a:p>
        </p:txBody>
      </p:sp>
      <p:sp>
        <p:nvSpPr>
          <p:cNvPr id="11" name="Text 8"/>
          <p:cNvSpPr/>
          <p:nvPr/>
        </p:nvSpPr>
        <p:spPr>
          <a:xfrm>
            <a:off x="2880360" y="2834640"/>
            <a:ext cx="265176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A557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 giả PASS — nói rõ gap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594360" y="3977640"/>
            <a:ext cx="11002975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8000"/>
              </a:lnSpc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3D2B9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Báo lỗi rõ ràng thay vì ẩn giấu</a:t>
            </a:r>
            <a:endParaRPr lang="en-US" sz="1300" dirty="0"/>
          </a:p>
          <a:p>
            <a:pPr marL="342900" indent="-342900">
              <a:lnSpc>
                <a:spcPct val="1080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E244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T06 — chưa có luồng ghi 10_INTERVENTIONS từ game runtime</a:t>
            </a:r>
            <a:endParaRPr lang="en-US" sz="1300" dirty="0"/>
          </a:p>
          <a:p>
            <a:pPr marL="342900" indent="-342900">
              <a:lnSpc>
                <a:spcPct val="1080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E244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T09 — chưa có AI decision log cho học sinh test (được ghi khi dùng /api/ai/adaptive-reason thật)</a:t>
            </a:r>
            <a:endParaRPr lang="en-US" sz="1300" dirty="0"/>
          </a:p>
          <a:p>
            <a:pPr marL="342900" indent="-342900">
              <a:lnSpc>
                <a:spcPct val="108000"/>
              </a:lnSpc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3D2B9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 khẳng định "app chạy tốt = can thiệp hiệu quả"</a:t>
            </a:r>
            <a:endParaRPr lang="en-US" sz="1300" dirty="0"/>
          </a:p>
          <a:p>
            <a:pPr marL="342900" indent="-342900">
              <a:lnSpc>
                <a:spcPct val="1080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E244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Kết quả kỹ thuật ≠ kết quả học tập (spec §105, §141–143)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457200" y="6254496"/>
            <a:ext cx="11277295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E4572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 server/v9DataEngine.ts runE2ETests() chạy live 2026-09-15. 18/20 PASS, 2 FAIL.</a:t>
            </a:r>
            <a:endParaRPr lang="en-US" sz="850" dirty="0"/>
          </a:p>
        </p:txBody>
      </p:sp>
      <p:sp>
        <p:nvSpPr>
          <p:cNvPr id="14" name="Text 11"/>
          <p:cNvSpPr/>
          <p:nvPr/>
        </p:nvSpPr>
        <p:spPr>
          <a:xfrm>
            <a:off x="457200" y="6565392"/>
            <a:ext cx="5486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A557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EduChoice-AI · Kết quả chính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9997135" y="6565392"/>
            <a:ext cx="17373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4A557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EduChoice-AI v3.0.0 · 2026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11140135" y="6565392"/>
            <a:ext cx="5943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4E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undefined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6B4EFF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256032"/>
            <a:ext cx="82296" cy="457200"/>
          </a:xfrm>
          <a:prstGeom prst="rect">
            <a:avLst/>
          </a:prstGeom>
          <a:solidFill>
            <a:srgbClr val="E4572E"/>
          </a:solidFill>
          <a:ln/>
        </p:spPr>
      </p:sp>
      <p:sp>
        <p:nvSpPr>
          <p:cNvPr id="5" name="Text 3"/>
          <p:cNvSpPr/>
          <p:nvPr/>
        </p:nvSpPr>
        <p:spPr>
          <a:xfrm>
            <a:off x="621792" y="27432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E4572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BẢO MẬT ĐÃ KIỂM CHỨNG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868680"/>
            <a:ext cx="11277295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2400" b="1" dirty="0">
                <a:solidFill>
                  <a:srgbClr val="1E244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An ninh: từ "client tự khai" → server-side trust boundary</a:t>
            </a:r>
            <a:endParaRPr lang="en-US" sz="24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011680"/>
          <a:ext cx="11277295" cy="914400"/>
        </p:xfrm>
        <a:graphic>
          <a:graphicData uri="http://schemas.openxmlformats.org/drawingml/2006/table">
            <a:tbl>
              <a:tblPr/>
              <a:tblGrid>
                <a:gridCol w="4023360"/>
                <a:gridCol w="3108960"/>
                <a:gridCol w="411480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Tình huống thử</a:t>
                      </a:r>
                      <a:endParaRPr lang="en-US" sz="1100" dirty="0">
                        <a:latin typeface="Be Vietnam Pro" charset="0"/>
                        <a:ea typeface="Be Vietnam Pro" charset="0"/>
                        <a:cs typeface="Be Vietnam Pro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E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Kết quả</a:t>
                      </a:r>
                      <a:endParaRPr lang="en-US" sz="1100" dirty="0">
                        <a:latin typeface="Be Vietnam Pro" charset="0"/>
                        <a:ea typeface="Be Vietnam Pro" charset="0"/>
                        <a:cs typeface="Be Vietnam Pro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E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Ý nghĩa</a:t>
                      </a:r>
                      <a:endParaRPr lang="en-US" sz="1100" dirty="0">
                        <a:latin typeface="Be Vietnam Pro" charset="0"/>
                        <a:ea typeface="Be Vietnam Pro" charset="0"/>
                        <a:cs typeface="Be Vietnam Pro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E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GUEST (mặc định)</a:t>
                      </a:r>
                      <a:endParaRPr lang="en-US" sz="1100" dirty="0">
                        <a:latin typeface="Be Vietnam Pro" charset="0"/>
                        <a:ea typeface="Be Vietnam Pro" charset="0"/>
                        <a:cs typeface="Be Vietnam Pro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E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4572E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403</a:t>
                      </a:r>
                      <a:endParaRPr lang="en-US" sz="1100" dirty="0">
                        <a:latin typeface="Be Vietnam Pro" charset="0"/>
                        <a:ea typeface="Be Vietnam Pro" charset="0"/>
                        <a:cs typeface="Be Vietnam Pro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E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Không có danh tính → denied</a:t>
                      </a:r>
                      <a:endParaRPr lang="en-US" sz="1100" dirty="0">
                        <a:latin typeface="Be Vietnam Pro" charset="0"/>
                        <a:ea typeface="Be Vietnam Pro" charset="0"/>
                        <a:cs typeface="Be Vietnam Pro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E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Spoof SUPER_ADMIN</a:t>
                      </a:r>
                      <a:endParaRPr lang="en-US" sz="1100" dirty="0">
                        <a:latin typeface="Be Vietnam Pro" charset="0"/>
                        <a:ea typeface="Be Vietnam Pro" charset="0"/>
                        <a:cs typeface="Be Vietnam Pro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E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4572E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403</a:t>
                      </a:r>
                      <a:endParaRPr lang="en-US" sz="1100" dirty="0">
                        <a:latin typeface="Be Vietnam Pro" charset="0"/>
                        <a:ea typeface="Be Vietnam Pro" charset="0"/>
                        <a:cs typeface="Be Vietnam Pro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E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Client tuyên bố SUPER_ADMIN → bị từ chối</a:t>
                      </a:r>
                      <a:endParaRPr lang="en-US" sz="1100" dirty="0">
                        <a:latin typeface="Be Vietnam Pro" charset="0"/>
                        <a:ea typeface="Be Vietnam Pro" charset="0"/>
                        <a:cs typeface="Be Vietnam Pro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E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SYSADMIN hợp lệ</a:t>
                      </a:r>
                      <a:endParaRPr lang="en-US" sz="1100" dirty="0">
                        <a:latin typeface="Be Vietnam Pro" charset="0"/>
                        <a:ea typeface="Be Vietnam Pro" charset="0"/>
                        <a:cs typeface="Be Vietnam Pro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E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BB67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ok=true</a:t>
                      </a:r>
                      <a:endParaRPr lang="en-US" sz="1100" dirty="0">
                        <a:latin typeface="Be Vietnam Pro" charset="0"/>
                        <a:ea typeface="Be Vietnam Pro" charset="0"/>
                        <a:cs typeface="Be Vietnam Pro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E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Trong DEMO_USERS allow-list</a:t>
                      </a:r>
                      <a:endParaRPr lang="en-US" sz="1100" dirty="0">
                        <a:latin typeface="Be Vietnam Pro" charset="0"/>
                        <a:ea typeface="Be Vietnam Pro" charset="0"/>
                        <a:cs typeface="Be Vietnam Pro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E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IDOR STU_001 đọc STU_002</a:t>
                      </a:r>
                      <a:endParaRPr lang="en-US" sz="1100" dirty="0">
                        <a:latin typeface="Be Vietnam Pro" charset="0"/>
                        <a:ea typeface="Be Vietnam Pro" charset="0"/>
                        <a:cs typeface="Be Vietnam Pro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E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4572E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403</a:t>
                      </a:r>
                      <a:endParaRPr lang="en-US" sz="1100" dirty="0">
                        <a:latin typeface="Be Vietnam Pro" charset="0"/>
                        <a:ea typeface="Be Vietnam Pro" charset="0"/>
                        <a:cs typeface="Be Vietnam Pro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E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Self-scoping ép userId từ danh tính</a:t>
                      </a:r>
                      <a:endParaRPr lang="en-US" sz="1100" dirty="0">
                        <a:latin typeface="Be Vietnam Pro" charset="0"/>
                        <a:ea typeface="Be Vietnam Pro" charset="0"/>
                        <a:cs typeface="Be Vietnam Pro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E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Sheets chưa cấu hình</a:t>
                      </a:r>
                      <a:endParaRPr lang="en-US" sz="1100" dirty="0">
                        <a:latin typeface="Be Vietnam Pro" charset="0"/>
                        <a:ea typeface="Be Vietnam Pro" charset="0"/>
                        <a:cs typeface="Be Vietnam Pro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E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4572E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501 SHEETS_NOT_CONFIGURED</a:t>
                      </a:r>
                      <a:endParaRPr lang="en-US" sz="1100" dirty="0">
                        <a:latin typeface="Be Vietnam Pro" charset="0"/>
                        <a:ea typeface="Be Vietnam Pro" charset="0"/>
                        <a:cs typeface="Be Vietnam Pro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E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Không báo success giả</a:t>
                      </a:r>
                      <a:endParaRPr lang="en-US" sz="1100" dirty="0">
                        <a:latin typeface="Be Vietnam Pro" charset="0"/>
                        <a:ea typeface="Be Vietnam Pro" charset="0"/>
                        <a:cs typeface="Be Vietnam Pro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E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457200" y="6254496"/>
            <a:ext cx="11277295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E4572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 Smoke tests server-side chạy 2026-09-15 sau khi hardening (commit 0e22d48). Security tree: server.ts auth allow-list.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457200" y="6565392"/>
            <a:ext cx="5486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A557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EduChoice-AI · Bảo mật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9997135" y="6565392"/>
            <a:ext cx="17373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4A557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EduChoice-AI v3.0.0 · 2026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11140135" y="6565392"/>
            <a:ext cx="5943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4E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undefined</a:t>
            </a:r>
            <a:endParaRPr lang="en-US" sz="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6B4EFF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256032"/>
            <a:ext cx="82296" cy="457200"/>
          </a:xfrm>
          <a:prstGeom prst="rect">
            <a:avLst/>
          </a:prstGeom>
          <a:solidFill>
            <a:srgbClr val="2BB673"/>
          </a:solidFill>
          <a:ln/>
        </p:spPr>
      </p:sp>
      <p:sp>
        <p:nvSpPr>
          <p:cNvPr id="5" name="Text 3"/>
          <p:cNvSpPr/>
          <p:nvPr/>
        </p:nvSpPr>
        <p:spPr>
          <a:xfrm>
            <a:off x="621792" y="27432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2BB6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CÔNG THỨC &amp; METRIC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868680"/>
            <a:ext cx="11277295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2100" b="1" dirty="0">
                <a:solidFill>
                  <a:srgbClr val="1E244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Công thức — mỗi công thức đều có nguồn &amp; ví dụ</a:t>
            </a:r>
            <a:endParaRPr lang="en-US" sz="21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965960"/>
          <a:ext cx="11277295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2011680"/>
                <a:gridCol w="3566160"/>
                <a:gridCol w="914400"/>
                <a:gridCol w="2926080"/>
                <a:gridCol w="137160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ID</a:t>
                      </a:r>
                      <a:endParaRPr lang="en-US" sz="1050" dirty="0">
                        <a:latin typeface="Be Vietnam Pro" charset="0"/>
                        <a:ea typeface="Be Vietnam Pro" charset="0"/>
                        <a:cs typeface="Be Vietnam Pro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E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Metric</a:t>
                      </a:r>
                      <a:endParaRPr lang="en-US" sz="1050" dirty="0">
                        <a:latin typeface="Be Vietnam Pro" charset="0"/>
                        <a:ea typeface="Be Vietnam Pro" charset="0"/>
                        <a:cs typeface="Be Vietnam Pro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E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Công thức</a:t>
                      </a:r>
                      <a:endParaRPr lang="en-US" sz="1050" dirty="0">
                        <a:latin typeface="Be Vietnam Pro" charset="0"/>
                        <a:ea typeface="Be Vietnam Pro" charset="0"/>
                        <a:cs typeface="Be Vietnam Pro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E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Đơn vị</a:t>
                      </a:r>
                      <a:endParaRPr lang="en-US" sz="1050" dirty="0">
                        <a:latin typeface="Be Vietnam Pro" charset="0"/>
                        <a:ea typeface="Be Vietnam Pro" charset="0"/>
                        <a:cs typeface="Be Vietnam Pro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E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Ví dụ</a:t>
                      </a:r>
                      <a:endParaRPr lang="en-US" sz="1050" dirty="0">
                        <a:latin typeface="Be Vietnam Pro" charset="0"/>
                        <a:ea typeface="Be Vietnam Pro" charset="0"/>
                        <a:cs typeface="Be Vietnam Pro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E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Trạng thái</a:t>
                      </a:r>
                      <a:endParaRPr lang="en-US" sz="1050" dirty="0">
                        <a:latin typeface="Be Vietnam Pro" charset="0"/>
                        <a:ea typeface="Be Vietnam Pro" charset="0"/>
                        <a:cs typeface="Be Vietnam Pro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E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F-001</a:t>
                      </a:r>
                      <a:endParaRPr lang="en-US" sz="1050" dirty="0">
                        <a:latin typeface="Be Vietnam Pro" charset="0"/>
                        <a:ea typeface="Be Vietnam Pro" charset="0"/>
                        <a:cs typeface="Be Vietnam Pro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E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Completion Rate</a:t>
                      </a:r>
                      <a:endParaRPr lang="en-US" sz="1050" dirty="0">
                        <a:latin typeface="Be Vietnam Pro" charset="0"/>
                        <a:ea typeface="Be Vietnam Pro" charset="0"/>
                        <a:cs typeface="Be Vietnam Pro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E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i="1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Completed / Eligible × 100%</a:t>
                      </a:r>
                      <a:endParaRPr lang="en-US" sz="105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E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%</a:t>
                      </a:r>
                      <a:endParaRPr lang="en-US" sz="1050" dirty="0">
                        <a:latin typeface="Be Vietnam Pro" charset="0"/>
                        <a:ea typeface="Be Vietnam Pro" charset="0"/>
                        <a:cs typeface="Be Vietnam Pro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E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4 → 4 → 100 = 100</a:t>
                      </a:r>
                      <a:endParaRPr lang="en-US" sz="1050" dirty="0">
                        <a:latin typeface="Be Vietnam Pro" charset="0"/>
                        <a:ea typeface="Be Vietnam Pro" charset="0"/>
                        <a:cs typeface="Be Vietnam Pro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E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BB67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VERIFIED</a:t>
                      </a:r>
                      <a:endParaRPr lang="en-US" sz="1050" dirty="0">
                        <a:latin typeface="Be Vietnam Pro" charset="0"/>
                        <a:ea typeface="Be Vietnam Pro" charset="0"/>
                        <a:cs typeface="Be Vietnam Pro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E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F-002</a:t>
                      </a:r>
                      <a:endParaRPr lang="en-US" sz="1050" dirty="0">
                        <a:latin typeface="Be Vietnam Pro" charset="0"/>
                        <a:ea typeface="Be Vietnam Pro" charset="0"/>
                        <a:cs typeface="Be Vietnam Pro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E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Transfer Gap</a:t>
                      </a:r>
                      <a:endParaRPr lang="en-US" sz="1050" dirty="0">
                        <a:latin typeface="Be Vietnam Pro" charset="0"/>
                        <a:ea typeface="Be Vietnam Pro" charset="0"/>
                        <a:cs typeface="Be Vietnam Pro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E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i="1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Game Gain − Real Gain</a:t>
                      </a:r>
                      <a:endParaRPr lang="en-US" sz="105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E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điểm (cùng thang đo)</a:t>
                      </a:r>
                      <a:endParaRPr lang="en-US" sz="1050" dirty="0">
                        <a:latin typeface="Be Vietnam Pro" charset="0"/>
                        <a:ea typeface="Be Vietnam Pro" charset="0"/>
                        <a:cs typeface="Be Vietnam Pro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E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88 → 75 → 13 = 13</a:t>
                      </a:r>
                      <a:endParaRPr lang="en-US" sz="1050" dirty="0">
                        <a:latin typeface="Be Vietnam Pro" charset="0"/>
                        <a:ea typeface="Be Vietnam Pro" charset="0"/>
                        <a:cs typeface="Be Vietnam Pro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E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BB67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VERIFIED</a:t>
                      </a:r>
                      <a:endParaRPr lang="en-US" sz="1050" dirty="0">
                        <a:latin typeface="Be Vietnam Pro" charset="0"/>
                        <a:ea typeface="Be Vietnam Pro" charset="0"/>
                        <a:cs typeface="Be Vietnam Pro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E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F-003</a:t>
                      </a:r>
                      <a:endParaRPr lang="en-US" sz="1050" dirty="0">
                        <a:latin typeface="Be Vietnam Pro" charset="0"/>
                        <a:ea typeface="Be Vietnam Pro" charset="0"/>
                        <a:cs typeface="Be Vietnam Pro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E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Decision Time Mean</a:t>
                      </a:r>
                      <a:endParaRPr lang="en-US" sz="1050" dirty="0">
                        <a:latin typeface="Be Vietnam Pro" charset="0"/>
                        <a:ea typeface="Be Vietnam Pro" charset="0"/>
                        <a:cs typeface="Be Vietnam Pro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E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i="1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Σ(decision time) / N</a:t>
                      </a:r>
                      <a:endParaRPr lang="en-US" sz="105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E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ms/lựa chọn</a:t>
                      </a:r>
                      <a:endParaRPr lang="en-US" sz="1050" dirty="0">
                        <a:latin typeface="Be Vietnam Pro" charset="0"/>
                        <a:ea typeface="Be Vietnam Pro" charset="0"/>
                        <a:cs typeface="Be Vietnam Pro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E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185000 → 49 → ≈3776 ms = ≈3776 ms</a:t>
                      </a:r>
                      <a:endParaRPr lang="en-US" sz="1050" dirty="0">
                        <a:latin typeface="Be Vietnam Pro" charset="0"/>
                        <a:ea typeface="Be Vietnam Pro" charset="0"/>
                        <a:cs typeface="Be Vietnam Pro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E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BB67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VERIFIED</a:t>
                      </a:r>
                      <a:endParaRPr lang="en-US" sz="1050" dirty="0">
                        <a:latin typeface="Be Vietnam Pro" charset="0"/>
                        <a:ea typeface="Be Vietnam Pro" charset="0"/>
                        <a:cs typeface="Be Vietnam Pro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E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F-004</a:t>
                      </a:r>
                      <a:endParaRPr lang="en-US" sz="1050" dirty="0">
                        <a:latin typeface="Be Vietnam Pro" charset="0"/>
                        <a:ea typeface="Be Vietnam Pro" charset="0"/>
                        <a:cs typeface="Be Vietnam Pro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E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Write Success Rate</a:t>
                      </a:r>
                      <a:endParaRPr lang="en-US" sz="1050" dirty="0">
                        <a:latin typeface="Be Vietnam Pro" charset="0"/>
                        <a:ea typeface="Be Vietnam Pro" charset="0"/>
                        <a:cs typeface="Be Vietnam Pro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E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i="1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successful writes / total writes × 100%</a:t>
                      </a:r>
                      <a:endParaRPr lang="en-US" sz="105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E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%</a:t>
                      </a:r>
                      <a:endParaRPr lang="en-US" sz="1050" dirty="0">
                        <a:latin typeface="Be Vietnam Pro" charset="0"/>
                        <a:ea typeface="Be Vietnam Pro" charset="0"/>
                        <a:cs typeface="Be Vietnam Pro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E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40 → 40 → 100 = 100</a:t>
                      </a:r>
                      <a:endParaRPr lang="en-US" sz="1050" dirty="0">
                        <a:latin typeface="Be Vietnam Pro" charset="0"/>
                        <a:ea typeface="Be Vietnam Pro" charset="0"/>
                        <a:cs typeface="Be Vietnam Pro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E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BB67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VERIFIED</a:t>
                      </a:r>
                      <a:endParaRPr lang="en-US" sz="1050" dirty="0">
                        <a:latin typeface="Be Vietnam Pro" charset="0"/>
                        <a:ea typeface="Be Vietnam Pro" charset="0"/>
                        <a:cs typeface="Be Vietnam Pro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E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F-005</a:t>
                      </a:r>
                      <a:endParaRPr lang="en-US" sz="1050" dirty="0">
                        <a:latin typeface="Be Vietnam Pro" charset="0"/>
                        <a:ea typeface="Be Vietnam Pro" charset="0"/>
                        <a:cs typeface="Be Vietnam Pro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E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Transfer Index</a:t>
                      </a:r>
                      <a:endParaRPr lang="en-US" sz="1050" dirty="0">
                        <a:latin typeface="Be Vietnam Pro" charset="0"/>
                        <a:ea typeface="Be Vietnam Pro" charset="0"/>
                        <a:cs typeface="Be Vietnam Pro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E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i="1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chưa có công thức được tài liệu hóa trong repo</a:t>
                      </a:r>
                      <a:endParaRPr lang="en-US" sz="105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E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0–1</a:t>
                      </a:r>
                      <a:endParaRPr lang="en-US" sz="1050" dirty="0">
                        <a:latin typeface="Be Vietnam Pro" charset="0"/>
                        <a:ea typeface="Be Vietnam Pro" charset="0"/>
                        <a:cs typeface="Be Vietnam Pro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E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>
                        <a:latin typeface="Be Vietnam Pro" charset="0"/>
                        <a:ea typeface="Be Vietnam Pro" charset="0"/>
                        <a:cs typeface="Be Vietnam Pro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E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BB67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NOT_VERIFIED — không đưa lên slide chính</a:t>
                      </a:r>
                      <a:endParaRPr lang="en-US" sz="1050" dirty="0">
                        <a:latin typeface="Be Vietnam Pro" charset="0"/>
                        <a:ea typeface="Be Vietnam Pro" charset="0"/>
                        <a:cs typeface="Be Vietnam Pro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E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457200" y="6254496"/>
            <a:ext cx="11277295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E4572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 docs/formulas/FORMULA_REGISTRY.md — mỗi công thức có biến, đơn vị, nguồn, test-case (spec §6–14, §120–122).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457200" y="6565392"/>
            <a:ext cx="5486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A557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EduChoice-AI · Công thức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9997135" y="6565392"/>
            <a:ext cx="17373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4A557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EduChoice-AI v3.0.0 · 2026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11140135" y="6565392"/>
            <a:ext cx="5943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4E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undefined</a:t>
            </a:r>
            <a:endParaRPr lang="en-US" sz="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6B4EFF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256032"/>
            <a:ext cx="82296" cy="457200"/>
          </a:xfrm>
          <a:prstGeom prst="rect">
            <a:avLst/>
          </a:prstGeom>
          <a:solidFill>
            <a:srgbClr val="8B7CFF"/>
          </a:solidFill>
          <a:ln/>
        </p:spPr>
      </p:sp>
      <p:sp>
        <p:nvSpPr>
          <p:cNvPr id="5" name="Text 3"/>
          <p:cNvSpPr/>
          <p:nvPr/>
        </p:nvSpPr>
        <p:spPr>
          <a:xfrm>
            <a:off x="621792" y="27432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8B7C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PHÂN TÍCH KHOA HỌC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868680"/>
            <a:ext cx="11277295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2100" b="1" dirty="0">
                <a:solidFill>
                  <a:srgbClr val="1E244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 lớp dữ liệu — phân tích — diễn giải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2057400"/>
            <a:ext cx="1920240" cy="1051560"/>
          </a:xfrm>
          <a:prstGeom prst="roundRect">
            <a:avLst>
              <a:gd name="adj" fmla="val 8696"/>
            </a:avLst>
          </a:prstGeom>
          <a:solidFill>
            <a:srgbClr val="EDEBFB"/>
          </a:solidFill>
          <a:ln w="12700">
            <a:solidFill>
              <a:srgbClr val="2BB67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2313432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BB6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DATA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2606040" y="2148840"/>
            <a:ext cx="9128455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E244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E2E 18/20 PASS; 40 records in-memory; write success 100% (in-memory); 39 schema tài liệu hóa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3383280"/>
            <a:ext cx="1920240" cy="1051560"/>
          </a:xfrm>
          <a:prstGeom prst="roundRect">
            <a:avLst>
              <a:gd name="adj" fmla="val 8696"/>
            </a:avLst>
          </a:prstGeom>
          <a:solidFill>
            <a:srgbClr val="EDEBFB"/>
          </a:solidFill>
          <a:ln w="12700">
            <a:solidFill>
              <a:srgbClr val="6B4E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639312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B4E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ANALYSIS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2606040" y="3474720"/>
            <a:ext cx="9128455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E244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Tỷ lệ vượt kiểm thử = 90%; 100% ghi trong-memory thành công (duplicate 0, orphan 0); 2 gap được khoanh vùng rõ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4709160"/>
            <a:ext cx="1920240" cy="1051560"/>
          </a:xfrm>
          <a:prstGeom prst="roundRect">
            <a:avLst>
              <a:gd name="adj" fmla="val 8696"/>
            </a:avLst>
          </a:prstGeom>
          <a:solidFill>
            <a:srgbClr val="FFF1E0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" y="4965192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4572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INTERPRETATION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2606040" y="4800600"/>
            <a:ext cx="9128455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E244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Hệ thống ở trạng thái demo nhưng trung thực &amp; kỹ thuật chạy ổn định. CHƯA cho phép kết luận can thiệp cải thiện học tập (spec §18)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57200" y="6565392"/>
            <a:ext cx="5486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A557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EduChoice-AI · Phân tích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9997135" y="6565392"/>
            <a:ext cx="17373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4A557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EduChoice-AI v3.0.0 · 2026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11140135" y="6565392"/>
            <a:ext cx="5943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4E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undefined</a:t>
            </a:r>
            <a:endParaRPr lang="en-US" sz="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6B4EFF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256032"/>
            <a:ext cx="82296" cy="457200"/>
          </a:xfrm>
          <a:prstGeom prst="rect">
            <a:avLst/>
          </a:prstGeom>
          <a:solidFill>
            <a:srgbClr val="E4572E"/>
          </a:solidFill>
          <a:ln/>
        </p:spPr>
      </p:sp>
      <p:sp>
        <p:nvSpPr>
          <p:cNvPr id="5" name="Text 3"/>
          <p:cNvSpPr/>
          <p:nvPr/>
        </p:nvSpPr>
        <p:spPr>
          <a:xfrm>
            <a:off x="621792" y="27432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E4572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HẠN CHẾ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868680"/>
            <a:ext cx="11277295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2400" b="1" dirty="0">
                <a:solidFill>
                  <a:srgbClr val="1E244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Hạn chế — nói rõ thay vì che giấu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94360" y="1965960"/>
            <a:ext cx="11002975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350" b="1" dirty="0">
                <a:solidFill>
                  <a:srgbClr val="3D2B9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Dữ liệu là demo, chưa phải thực nghiệm thật</a:t>
            </a:r>
            <a:endParaRPr lang="en-US" sz="1350" dirty="0"/>
          </a:p>
          <a:p>
            <a:pPr marL="342900" indent="-3429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E244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Data layer IN_MEMORY_MOCK, chưa nối Google Sheets; seed = demo rõ nhãn</a:t>
            </a:r>
            <a:endParaRPr lang="en-US" sz="1350" dirty="0"/>
          </a:p>
          <a:p>
            <a:pPr marL="342900" indent="-3429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E244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Kết quả kỹ thuật (E2E/health) KHÔNG phải bằng chứng hiệu quả giáo dục</a:t>
            </a:r>
            <a:endParaRPr lang="en-US" sz="1350" dirty="0"/>
          </a:p>
          <a:p>
            <a:pPr marL="342900" indent="-3429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350" b="1" dirty="0">
                <a:solidFill>
                  <a:srgbClr val="3D2B9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Gap kỹ thuật còn mở</a:t>
            </a:r>
            <a:endParaRPr lang="en-US" sz="1350" dirty="0"/>
          </a:p>
          <a:p>
            <a:pPr marL="342900" indent="-3429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E244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T09 — AI decision log chỉ có khi chạy adaptive-reason thật</a:t>
            </a:r>
            <a:endParaRPr lang="en-US" sz="1350" dirty="0"/>
          </a:p>
          <a:p>
            <a:pPr marL="342900" indent="-3429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E244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T06 — chưa có luồng ghi can thiệp từ game runtime</a:t>
            </a:r>
            <a:endParaRPr lang="en-US" sz="1350" dirty="0"/>
          </a:p>
          <a:p>
            <a:pPr marL="342900" indent="-3429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350" b="1" dirty="0">
                <a:solidFill>
                  <a:srgbClr val="3D2B9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Thiết kế nghiên cứu</a:t>
            </a:r>
            <a:endParaRPr lang="en-US" sz="1350" dirty="0"/>
          </a:p>
          <a:p>
            <a:pPr marL="342900" indent="-3429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E244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Mẫu nhỏ / chưa triển khai; thuộc một trường; chưa có so sánh dài hạn (spec §36)</a:t>
            </a:r>
            <a:endParaRPr lang="en-US" sz="1350" dirty="0"/>
          </a:p>
          <a:p>
            <a:pPr marL="342900" indent="-3429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E244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 chẩn đoán lâm sàng; thuật ngữ dùng "behavior signal/educational state" (spec §56)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457200" y="6565392"/>
            <a:ext cx="5486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A557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EduChoice-AI · Hạn chế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9997135" y="6565392"/>
            <a:ext cx="17373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4A557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EduChoice-AI v3.0.0 · 2026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1140135" y="6565392"/>
            <a:ext cx="5943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4E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undefined</a:t>
            </a:r>
            <a:endParaRPr lang="en-US" sz="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6B4EFF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256032"/>
            <a:ext cx="82296" cy="457200"/>
          </a:xfrm>
          <a:prstGeom prst="rect">
            <a:avLst/>
          </a:prstGeom>
          <a:solidFill>
            <a:srgbClr val="2BB673"/>
          </a:solidFill>
          <a:ln/>
        </p:spPr>
      </p:sp>
      <p:sp>
        <p:nvSpPr>
          <p:cNvPr id="5" name="Text 3"/>
          <p:cNvSpPr/>
          <p:nvPr/>
        </p:nvSpPr>
        <p:spPr>
          <a:xfrm>
            <a:off x="621792" y="27432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2BB6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AN TOÀN · RIÊNG TƯ · ĐẠO ĐỨC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868680"/>
            <a:ext cx="11277295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2400" b="1" dirty="0">
                <a:solidFill>
                  <a:srgbClr val="1E244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8 nguyên tắc an toàn AI cho giáo dục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594360" y="2148840"/>
            <a:ext cx="265176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BB67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2258568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BB6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No diagnosis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731520" y="2651760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57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 đưa nhãn chẩn đoán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3429000" y="2148840"/>
            <a:ext cx="265176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BB67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66160" y="2258568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BB6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Data minimization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3566160" y="2651760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57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 lấy dữ liệu tối thiểu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263640" y="2148840"/>
            <a:ext cx="265176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BB67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0" y="2258568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BB6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Consent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400800" y="2651760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57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Đồng thuận, teacher oversight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9098280" y="2148840"/>
            <a:ext cx="265176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BB67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235440" y="2258568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BB6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Role-based access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9235440" y="2651760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57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Server-side RBAC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594360" y="3566160"/>
            <a:ext cx="265176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BB67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31520" y="3675888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BB6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Human oversight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731520" y="4069080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57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Giáo viên là người quyết định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3429000" y="3566160"/>
            <a:ext cx="265176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BB67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566160" y="3675888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BB6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AI fallback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3566160" y="4069080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57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Deterministic khi AI lỗi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6263640" y="3566160"/>
            <a:ext cx="265176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BB67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0" y="3675888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BB6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Audit log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6400800" y="4069080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57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31_AUDIT_LOG + 18_AI_DECISIONS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9098280" y="3566160"/>
            <a:ext cx="265176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BB67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235440" y="3675888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BB6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Student agency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9235440" y="4069080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57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Học sinh giữ quyền chọn lựa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457200" y="6565392"/>
            <a:ext cx="5486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A557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EduChoice-AI · An toàn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9997135" y="6565392"/>
            <a:ext cx="17373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4A557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EduChoice-AI v3.0.0 · 2026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11140135" y="6565392"/>
            <a:ext cx="5943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4E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undefined</a:t>
            </a:r>
            <a:endParaRPr lang="en-US" sz="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6B4EFF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256032"/>
            <a:ext cx="82296" cy="457200"/>
          </a:xfrm>
          <a:prstGeom prst="rect">
            <a:avLst/>
          </a:prstGeom>
          <a:solidFill>
            <a:srgbClr val="3D2B99"/>
          </a:solidFill>
          <a:ln/>
        </p:spPr>
      </p:sp>
      <p:sp>
        <p:nvSpPr>
          <p:cNvPr id="5" name="Text 3"/>
          <p:cNvSpPr/>
          <p:nvPr/>
        </p:nvSpPr>
        <p:spPr>
          <a:xfrm>
            <a:off x="621792" y="27432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3D2B9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KẾT LUẬN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868680"/>
            <a:ext cx="11277295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2400" b="1" dirty="0">
                <a:solidFill>
                  <a:srgbClr val="1E244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Kết luận — đúng 3 dòng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457200" y="2103120"/>
            <a:ext cx="11277295" cy="1143000"/>
          </a:xfrm>
          <a:prstGeom prst="roundRect">
            <a:avLst>
              <a:gd name="adj" fmla="val 8000"/>
            </a:avLst>
          </a:prstGeom>
          <a:solidFill>
            <a:srgbClr val="EDEBFB"/>
          </a:solidFill>
          <a:ln w="12700">
            <a:solidFill>
              <a:srgbClr val="6B4E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" y="2240280"/>
            <a:ext cx="10820095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b="1" dirty="0">
                <a:solidFill>
                  <a:srgbClr val="1E244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 · Vấn đề đã xử lý — Hỗ trợ học sinh tự điều chỉnh hành vi qua vòng lặp game-hành vi-thích ứng có kiểm soát; loại bỏ trạng thái "bịa số liệu hiển thị như thật".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57200" y="3474720"/>
            <a:ext cx="11277295" cy="1143000"/>
          </a:xfrm>
          <a:prstGeom prst="roundRect">
            <a:avLst>
              <a:gd name="adj" fmla="val 8000"/>
            </a:avLst>
          </a:prstGeom>
          <a:solidFill>
            <a:srgbClr val="EDEBFB"/>
          </a:solidFill>
          <a:ln w="12700">
            <a:solidFill>
              <a:srgbClr val="6B4E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0" y="3611880"/>
            <a:ext cx="10820095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E244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 · Điều đã chứng minh — Kỹ thuật: E2E 18/20, security hardening 403, AI gate + fallback + log, telemetry đo thật, trang thái demo được báo đúng (audit baseline 1.1/5 → hệ thống trung thực).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57200" y="4846320"/>
            <a:ext cx="11277295" cy="1143000"/>
          </a:xfrm>
          <a:prstGeom prst="roundRect">
            <a:avLst>
              <a:gd name="adj" fmla="val 8000"/>
            </a:avLst>
          </a:prstGeom>
          <a:solidFill>
            <a:srgbClr val="FFF6E9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0" y="4983480"/>
            <a:ext cx="10820095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E244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 · Điều chưa thể kết luận — Chưa có bằng chứng rằng can thiệp cải thiện học tập — cần thực nghiệm thật theo thiết kế A/B/C đã định trước.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457200" y="6565392"/>
            <a:ext cx="5486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A557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EduChoice-AI · Kết luận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9997135" y="6565392"/>
            <a:ext cx="17373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4A557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EduChoice-AI v3.0.0 · 2026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1140135" y="6565392"/>
            <a:ext cx="5943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4E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undefined</a:t>
            </a:r>
            <a:endParaRPr lang="en-US" sz="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6B4EFF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256032"/>
            <a:ext cx="82296" cy="457200"/>
          </a:xfrm>
          <a:prstGeom prst="rect">
            <a:avLst/>
          </a:prstGeom>
          <a:solidFill>
            <a:srgbClr val="8B7CFF"/>
          </a:solidFill>
          <a:ln/>
        </p:spPr>
      </p:sp>
      <p:sp>
        <p:nvSpPr>
          <p:cNvPr id="5" name="Text 3"/>
          <p:cNvSpPr/>
          <p:nvPr/>
        </p:nvSpPr>
        <p:spPr>
          <a:xfrm>
            <a:off x="621792" y="27432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8B7C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HƯỚNG PHÁT TRIỂN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868680"/>
            <a:ext cx="11277295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2100" b="1" dirty="0">
                <a:solidFill>
                  <a:srgbClr val="1E244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Bước tiếp theo: biến thiết kế thành thực nghiệm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594360" y="1965960"/>
            <a:ext cx="11002975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350" b="1" dirty="0">
                <a:solidFill>
                  <a:srgbClr val="3D2B9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Kỹ thuật</a:t>
            </a:r>
            <a:endParaRPr lang="en-US" sz="1350" dirty="0"/>
          </a:p>
          <a:p>
            <a:pPr marL="342900" indent="-3429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E244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Nối Google Sheets thật qua Apps Script gateway đã hợp lệ hoá (auth + LockService + upsert)</a:t>
            </a:r>
            <a:endParaRPr lang="en-US" sz="1350" dirty="0"/>
          </a:p>
          <a:p>
            <a:pPr marL="342900" indent="-3429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E244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Đóng luồng ghi 10_INTERVENTIONS (T06) và tự động ghi 18_AI_DECISIONS trong mọi phiên (T09)</a:t>
            </a:r>
            <a:endParaRPr lang="en-US" sz="1350" dirty="0"/>
          </a:p>
          <a:p>
            <a:pPr marL="342900" indent="-3429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350" b="1" dirty="0">
                <a:solidFill>
                  <a:srgbClr val="3D2B9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Nghiên cứu</a:t>
            </a:r>
            <a:endParaRPr lang="en-US" sz="1350" dirty="0"/>
          </a:p>
          <a:p>
            <a:pPr marL="342900" indent="-3429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E244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 thập dữ liệu theo thiết kế A/B/C với consent, pseudonym (S001…), teacher oversight</a:t>
            </a:r>
            <a:endParaRPr lang="en-US" sz="1350" dirty="0"/>
          </a:p>
          <a:p>
            <a:pPr marL="342900" indent="-3429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E244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Ước lượng cần n ≥ 20/người/nhóm cho phân tích lặp đo; báo CI khi có đủ dữ liệu</a:t>
            </a:r>
            <a:endParaRPr lang="en-US" sz="1350" dirty="0"/>
          </a:p>
          <a:p>
            <a:pPr marL="342900" indent="-3429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350" b="1" dirty="0">
                <a:solidFill>
                  <a:srgbClr val="3D2B9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Chất lượng</a:t>
            </a:r>
            <a:endParaRPr lang="en-US" sz="1350" dirty="0"/>
          </a:p>
          <a:p>
            <a:pPr marL="342900" indent="-3429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E244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Chạy Formula QA bằng test-code cho F-001..F-004; thêm unit test cho từng công thức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457200" y="6565392"/>
            <a:ext cx="5486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A557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EduChoice-AI · Hướng phát triển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9997135" y="6565392"/>
            <a:ext cx="17373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4A557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EduChoice-AI v3.0.0 · 2026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1140135" y="6565392"/>
            <a:ext cx="5943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4E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undefined</a:t>
            </a:r>
            <a:endParaRPr lang="en-US" sz="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6B4EFF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256032"/>
            <a:ext cx="82296" cy="457200"/>
          </a:xfrm>
          <a:prstGeom prst="rect">
            <a:avLst/>
          </a:prstGeom>
          <a:solidFill>
            <a:srgbClr val="6B4EFF"/>
          </a:solidFill>
          <a:ln/>
        </p:spPr>
      </p:sp>
      <p:sp>
        <p:nvSpPr>
          <p:cNvPr id="5" name="Text 3"/>
          <p:cNvSpPr/>
          <p:nvPr/>
        </p:nvSpPr>
        <p:spPr>
          <a:xfrm>
            <a:off x="621792" y="27432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6B4E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TÀI LIỆU THAM KHẢO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868680"/>
            <a:ext cx="11277295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2100" b="1" dirty="0">
                <a:solidFill>
                  <a:srgbClr val="1E244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dữ liệu &amp; tài liệu</a:t>
            </a:r>
            <a:endParaRPr lang="en-US" sz="21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965960"/>
          <a:ext cx="11277295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4937760"/>
                <a:gridCol w="4206240"/>
                <a:gridCol w="12801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ID</a:t>
                      </a:r>
                      <a:endParaRPr lang="en-US" sz="1050" dirty="0">
                        <a:latin typeface="Be Vietnam Pro" charset="0"/>
                        <a:ea typeface="Be Vietnam Pro" charset="0"/>
                        <a:cs typeface="Be Vietnam Pro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E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Nguồn</a:t>
                      </a:r>
                      <a:endParaRPr lang="en-US" sz="1050" dirty="0">
                        <a:latin typeface="Be Vietnam Pro" charset="0"/>
                        <a:ea typeface="Be Vietnam Pro" charset="0"/>
                        <a:cs typeface="Be Vietnam Pro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E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Dùng cho</a:t>
                      </a:r>
                      <a:endParaRPr lang="en-US" sz="1050" dirty="0">
                        <a:latin typeface="Be Vietnam Pro" charset="0"/>
                        <a:ea typeface="Be Vietnam Pro" charset="0"/>
                        <a:cs typeface="Be Vietnam Pro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E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Access date</a:t>
                      </a:r>
                      <a:endParaRPr lang="en-US" sz="1050" dirty="0">
                        <a:latin typeface="Be Vietnam Pro" charset="0"/>
                        <a:ea typeface="Be Vietnam Pro" charset="0"/>
                        <a:cs typeface="Be Vietnam Pro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E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CIT-001</a:t>
                      </a:r>
                      <a:endParaRPr lang="en-US" sz="1050" dirty="0">
                        <a:latin typeface="Be Vietnam Pro" charset="0"/>
                        <a:ea typeface="Be Vietnam Pro" charset="0"/>
                        <a:cs typeface="Be Vietnam Pro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E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Dữ liệu thử nghiệm kỹ thuật của nhóm (E2E, health, quality) — Repo EduChoice-AI v3, commit 0e22d48</a:t>
                      </a:r>
                      <a:endParaRPr lang="en-US" sz="1050" dirty="0">
                        <a:latin typeface="Be Vietnam Pro" charset="0"/>
                        <a:ea typeface="Be Vietnam Pro" charset="0"/>
                        <a:cs typeface="Be Vietnam Pro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E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Bảng số liệu kỹ thuật</a:t>
                      </a:r>
                      <a:endParaRPr lang="en-US" sz="1050" dirty="0">
                        <a:latin typeface="Be Vietnam Pro" charset="0"/>
                        <a:ea typeface="Be Vietnam Pro" charset="0"/>
                        <a:cs typeface="Be Vietnam Pro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E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2026-09-15</a:t>
                      </a:r>
                      <a:endParaRPr lang="en-US" sz="1050" dirty="0">
                        <a:latin typeface="Be Vietnam Pro" charset="0"/>
                        <a:ea typeface="Be Vietnam Pro" charset="0"/>
                        <a:cs typeface="Be Vietnam Pro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E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CIT-002</a:t>
                      </a:r>
                      <a:endParaRPr lang="en-US" sz="1050" dirty="0">
                        <a:latin typeface="Be Vietnam Pro" charset="0"/>
                        <a:ea typeface="Be Vietnam Pro" charset="0"/>
                        <a:cs typeface="Be Vietnam Pro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E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EduChoice-AI Pre-Improvement Audit Report V1.0 — EDUCHOICE_AI_PRE_IMPROVEMENT_AUDIT_REPORT.md</a:t>
                      </a:r>
                      <a:endParaRPr lang="en-US" sz="1050" dirty="0">
                        <a:latin typeface="Be Vietnam Pro" charset="0"/>
                        <a:ea typeface="Be Vietnam Pro" charset="0"/>
                        <a:cs typeface="Be Vietnam Pro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E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Bối cảnh cải tiến (1.1/5 → hardening)</a:t>
                      </a:r>
                      <a:endParaRPr lang="en-US" sz="1050" dirty="0">
                        <a:latin typeface="Be Vietnam Pro" charset="0"/>
                        <a:ea typeface="Be Vietnam Pro" charset="0"/>
                        <a:cs typeface="Be Vietnam Pro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E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2026-09-15</a:t>
                      </a:r>
                      <a:endParaRPr lang="en-US" sz="1050" dirty="0">
                        <a:latin typeface="Be Vietnam Pro" charset="0"/>
                        <a:ea typeface="Be Vietnam Pro" charset="0"/>
                        <a:cs typeface="Be Vietnam Pro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E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CIT-003</a:t>
                      </a:r>
                      <a:endParaRPr lang="en-US" sz="1050" dirty="0">
                        <a:latin typeface="Be Vietnam Pro" charset="0"/>
                        <a:ea typeface="Be Vietnam Pro" charset="0"/>
                        <a:cs typeface="Be Vietnam Pro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E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EduChoice-AI Master Spec — PPTX Scientific Presentation V2 — EDUCHOICE_AI_OPENCODE_MASTER_SPEC_...REFERENCE_STYLE.md</a:t>
                      </a:r>
                      <a:endParaRPr lang="en-US" sz="1050" dirty="0">
                        <a:latin typeface="Be Vietnam Pro" charset="0"/>
                        <a:ea typeface="Be Vietnam Pro" charset="0"/>
                        <a:cs typeface="Be Vietnam Pro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E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Cấu trúc slide &amp; quy chuẩn công thức</a:t>
                      </a:r>
                      <a:endParaRPr lang="en-US" sz="1050" dirty="0">
                        <a:latin typeface="Be Vietnam Pro" charset="0"/>
                        <a:ea typeface="Be Vietnam Pro" charset="0"/>
                        <a:cs typeface="Be Vietnam Pro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E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2026-09-15</a:t>
                      </a:r>
                      <a:endParaRPr lang="en-US" sz="1050" dirty="0">
                        <a:latin typeface="Be Vietnam Pro" charset="0"/>
                        <a:ea typeface="Be Vietnam Pro" charset="0"/>
                        <a:cs typeface="Be Vietnam Pro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E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457200" y="6254496"/>
            <a:ext cx="11277295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E4572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 Mọi claim khoa học nội bộ xuất từ dữ liệu thử nghiệm của nhóm (repo), không từ nguồn bịa đặt (spec §89–90, §159).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457200" y="6565392"/>
            <a:ext cx="5486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A557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EduChoice-AI · Tài liệu tham khảo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9997135" y="6565392"/>
            <a:ext cx="17373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4A557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EduChoice-AI v3.0.0 · 2026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11140135" y="6565392"/>
            <a:ext cx="5943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4E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undefined</a:t>
            </a:r>
            <a:endParaRPr lang="en-US" sz="8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6B4EFF"/>
          </a:solidFill>
          <a:ln/>
        </p:spPr>
      </p:sp>
      <p:sp>
        <p:nvSpPr>
          <p:cNvPr id="4" name="Text 2"/>
          <p:cNvSpPr/>
          <p:nvPr/>
        </p:nvSpPr>
        <p:spPr>
          <a:xfrm>
            <a:off x="9814255" y="228600"/>
            <a:ext cx="1920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E4572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BACKUP · B01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256032"/>
            <a:ext cx="82296" cy="457200"/>
          </a:xfrm>
          <a:prstGeom prst="rect">
            <a:avLst/>
          </a:prstGeom>
          <a:solidFill>
            <a:srgbClr val="6B4EFF"/>
          </a:solidFill>
          <a:ln/>
        </p:spPr>
      </p:sp>
      <p:sp>
        <p:nvSpPr>
          <p:cNvPr id="6" name="Text 4"/>
          <p:cNvSpPr/>
          <p:nvPr/>
        </p:nvSpPr>
        <p:spPr>
          <a:xfrm>
            <a:off x="621792" y="27432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6B4E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APPENDIX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868680"/>
            <a:ext cx="11277295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2000" b="1" dirty="0">
                <a:solidFill>
                  <a:srgbClr val="1E244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Biến nghiên cứu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594360" y="1920240"/>
            <a:ext cx="11002975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3D2B9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IV (độc lập)</a:t>
            </a:r>
            <a:endParaRPr lang="en-US" sz="1350" dirty="0"/>
          </a:p>
          <a:p>
            <a:pPr marL="342900" indent="-3429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E244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Điều kiện can thiệp: phản hồi cố định vs can thiệp thích ứng (có/không transfer)</a:t>
            </a:r>
            <a:endParaRPr lang="en-US" sz="1350" dirty="0"/>
          </a:p>
          <a:p>
            <a:pPr marL="342900" indent="-3429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3D2B9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DV (phụ thuộc)</a:t>
            </a:r>
            <a:endParaRPr lang="en-US" sz="1350" dirty="0"/>
          </a:p>
          <a:p>
            <a:pPr marL="342900" indent="-3429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E244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Transfer execution rate, completion, retry, decision time mean, agency</a:t>
            </a:r>
            <a:endParaRPr lang="en-US" sz="1350" dirty="0"/>
          </a:p>
          <a:p>
            <a:pPr marL="342900" indent="-3429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3D2B9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Đơn vị phân tích</a:t>
            </a:r>
            <a:endParaRPr lang="en-US" sz="1350" dirty="0"/>
          </a:p>
          <a:p>
            <a:pPr marL="342900" indent="-3429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E244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Học sinh (repeated measures) — không coi event là học sinh độc lập (spec §16)</a:t>
            </a:r>
            <a:endParaRPr lang="en-US" sz="1350" dirty="0"/>
          </a:p>
          <a:p>
            <a:pPr marL="342900" indent="-3429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3D2B9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Đơn vị quan sát</a:t>
            </a:r>
            <a:endParaRPr lang="en-US" sz="1350" dirty="0"/>
          </a:p>
          <a:p>
            <a:pPr marL="342900" indent="-3429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E244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Sự kiện hành vi trong phiên game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457200" y="6565392"/>
            <a:ext cx="5486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A557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EduChoice-AI · Appendix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9997135" y="6565392"/>
            <a:ext cx="17373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4A557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EduChoice-AI v3.0.0 · 2026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11140135" y="6565392"/>
            <a:ext cx="5943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4E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6B4EFF"/>
          </a:solidFill>
          <a:ln/>
        </p:spPr>
      </p:sp>
      <p:sp>
        <p:nvSpPr>
          <p:cNvPr id="4" name="Text 2"/>
          <p:cNvSpPr/>
          <p:nvPr/>
        </p:nvSpPr>
        <p:spPr>
          <a:xfrm>
            <a:off x="9814255" y="228600"/>
            <a:ext cx="1920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E4572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BACKUP · B02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256032"/>
            <a:ext cx="82296" cy="457200"/>
          </a:xfrm>
          <a:prstGeom prst="rect">
            <a:avLst/>
          </a:prstGeom>
          <a:solidFill>
            <a:srgbClr val="6B4EFF"/>
          </a:solidFill>
          <a:ln/>
        </p:spPr>
      </p:sp>
      <p:sp>
        <p:nvSpPr>
          <p:cNvPr id="6" name="Text 4"/>
          <p:cNvSpPr/>
          <p:nvPr/>
        </p:nvSpPr>
        <p:spPr>
          <a:xfrm>
            <a:off x="621792" y="27432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6B4E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APPENDIX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868680"/>
            <a:ext cx="11277295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2000" b="1" dirty="0">
                <a:solidFill>
                  <a:srgbClr val="1E244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Mẫu &amp; phương pháp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594360" y="1920240"/>
            <a:ext cx="11002975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E244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Đề xuất: 3 nhóm (A/B/C), n = 20+/nhóm, một trường THCS, có đồng thuận</a:t>
            </a:r>
            <a:endParaRPr lang="en-US" sz="1250" dirty="0"/>
          </a:p>
          <a:p>
            <a:pPr marL="342900" indent="-3429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E244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Phương pháp: repeated measures; kiểm chứng thiết kế bằng research design validator (spec §124)</a:t>
            </a:r>
            <a:endParaRPr lang="en-US" sz="1250" dirty="0"/>
          </a:p>
          <a:p>
            <a:pPr marL="342900" indent="-3429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E244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Cảnh báo: thiết kế một nhóm pre/post KHÔNG cho phép claim nhân quả (CAUSALITY OVERCLAIM flag)</a:t>
            </a:r>
            <a:endParaRPr lang="en-US" sz="1250" dirty="0"/>
          </a:p>
          <a:p>
            <a:pPr marL="342900" indent="-3429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E244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Số liệu mẫu hiện tại: chỉ là seed demo (STU_001/002/003), KHÔNG dùng để báo hiệu quả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457200" y="6565392"/>
            <a:ext cx="5486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A557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EduChoice-AI · Appendix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9997135" y="6565392"/>
            <a:ext cx="17373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4A557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EduChoice-AI v3.0.0 · 2026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11140135" y="6565392"/>
            <a:ext cx="5943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4E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6B4EFF"/>
          </a:solidFill>
          <a:ln/>
        </p:spPr>
      </p:sp>
      <p:sp>
        <p:nvSpPr>
          <p:cNvPr id="4" name="Text 2"/>
          <p:cNvSpPr/>
          <p:nvPr/>
        </p:nvSpPr>
        <p:spPr>
          <a:xfrm>
            <a:off x="9814255" y="228600"/>
            <a:ext cx="1920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E4572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BACKUP · B03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256032"/>
            <a:ext cx="82296" cy="457200"/>
          </a:xfrm>
          <a:prstGeom prst="rect">
            <a:avLst/>
          </a:prstGeom>
          <a:solidFill>
            <a:srgbClr val="6B4EFF"/>
          </a:solidFill>
          <a:ln/>
        </p:spPr>
      </p:sp>
      <p:sp>
        <p:nvSpPr>
          <p:cNvPr id="6" name="Text 4"/>
          <p:cNvSpPr/>
          <p:nvPr/>
        </p:nvSpPr>
        <p:spPr>
          <a:xfrm>
            <a:off x="621792" y="27432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6B4E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APPENDIX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868680"/>
            <a:ext cx="11277295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2000" b="1" dirty="0">
                <a:solidFill>
                  <a:srgbClr val="1E244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Dữ liệu demo — nhãn rõ ràng</a:t>
            </a:r>
            <a:endParaRPr lang="en-US" sz="20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965960"/>
          <a:ext cx="11277295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3291840"/>
                <a:gridCol w="411480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Trường</a:t>
                      </a:r>
                      <a:endParaRPr lang="en-US" sz="1100" dirty="0">
                        <a:latin typeface="Be Vietnam Pro" charset="0"/>
                        <a:ea typeface="Be Vietnam Pro" charset="0"/>
                        <a:cs typeface="Be Vietnam Pro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E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Giá trị</a:t>
                      </a:r>
                      <a:endParaRPr lang="en-US" sz="1100" dirty="0">
                        <a:latin typeface="Be Vietnam Pro" charset="0"/>
                        <a:ea typeface="Be Vietnam Pro" charset="0"/>
                        <a:cs typeface="Be Vietnam Pro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E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Nhãn thật</a:t>
                      </a:r>
                      <a:endParaRPr lang="en-US" sz="1100" dirty="0">
                        <a:latin typeface="Be Vietnam Pro" charset="0"/>
                        <a:ea typeface="Be Vietnam Pro" charset="0"/>
                        <a:cs typeface="Be Vietnam Pro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E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dataSource</a:t>
                      </a:r>
                      <a:endParaRPr lang="en-US" sz="1100" dirty="0">
                        <a:latin typeface="Be Vietnam Pro" charset="0"/>
                        <a:ea typeface="Be Vietnam Pro" charset="0"/>
                        <a:cs typeface="Be Vietnam Pro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E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IN_MEMORY_MOCK</a:t>
                      </a:r>
                      <a:endParaRPr lang="en-US" sz="1100" dirty="0">
                        <a:latin typeface="Be Vietnam Pro" charset="0"/>
                        <a:ea typeface="Be Vietnam Pro" charset="0"/>
                        <a:cs typeface="Be Vietnam Pro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E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4572E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DEMO</a:t>
                      </a:r>
                      <a:endParaRPr lang="en-US" sz="1100" dirty="0">
                        <a:latin typeface="Be Vietnam Pro" charset="0"/>
                        <a:ea typeface="Be Vietnam Pro" charset="0"/>
                        <a:cs typeface="Be Vietnam Pro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E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demoMode (V9 + V10)</a:t>
                      </a:r>
                      <a:endParaRPr lang="en-US" sz="1100" dirty="0">
                        <a:latin typeface="Be Vietnam Pro" charset="0"/>
                        <a:ea typeface="Be Vietnam Pro" charset="0"/>
                        <a:cs typeface="Be Vietnam Pro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E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true</a:t>
                      </a:r>
                      <a:endParaRPr lang="en-US" sz="1100" dirty="0">
                        <a:latin typeface="Be Vietnam Pro" charset="0"/>
                        <a:ea typeface="Be Vietnam Pro" charset="0"/>
                        <a:cs typeface="Be Vietnam Pro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E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4572E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DEMO</a:t>
                      </a:r>
                      <a:endParaRPr lang="en-US" sz="1100" dirty="0">
                        <a:latin typeface="Be Vietnam Pro" charset="0"/>
                        <a:ea typeface="Be Vietnam Pro" charset="0"/>
                        <a:cs typeface="Be Vietnam Pro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E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eventIngestionRate</a:t>
                      </a:r>
                      <a:endParaRPr lang="en-US" sz="1100" dirty="0">
                        <a:latin typeface="Be Vietnam Pro" charset="0"/>
                        <a:ea typeface="Be Vietnam Pro" charset="0"/>
                        <a:cs typeface="Be Vietnam Pro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E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0</a:t>
                      </a:r>
                      <a:endParaRPr lang="en-US" sz="1100" dirty="0">
                        <a:latin typeface="Be Vietnam Pro" charset="0"/>
                        <a:ea typeface="Be Vietnam Pro" charset="0"/>
                        <a:cs typeface="Be Vietnam Pro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E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4572E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0 — chưa có Sheets thật</a:t>
                      </a:r>
                      <a:endParaRPr lang="en-US" sz="1100" dirty="0">
                        <a:latin typeface="Be Vietnam Pro" charset="0"/>
                        <a:ea typeface="Be Vietnam Pro" charset="0"/>
                        <a:cs typeface="Be Vietnam Pro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E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writeSuccessRate (in-memory)</a:t>
                      </a:r>
                      <a:endParaRPr lang="en-US" sz="1100" dirty="0">
                        <a:latin typeface="Be Vietnam Pro" charset="0"/>
                        <a:ea typeface="Be Vietnam Pro" charset="0"/>
                        <a:cs typeface="Be Vietnam Pro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E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100%</a:t>
                      </a:r>
                      <a:endParaRPr lang="en-US" sz="1100" dirty="0">
                        <a:latin typeface="Be Vietnam Pro" charset="0"/>
                        <a:ea typeface="Be Vietnam Pro" charset="0"/>
                        <a:cs typeface="Be Vietnam Pro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E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Đo trong bộ nhớ</a:t>
                      </a:r>
                      <a:endParaRPr lang="en-US" sz="1100" dirty="0">
                        <a:latin typeface="Be Vietnam Pro" charset="0"/>
                        <a:ea typeface="Be Vietnam Pro" charset="0"/>
                        <a:cs typeface="Be Vietnam Pro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E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V9_SEED_IS_DEMO</a:t>
                      </a:r>
                      <a:endParaRPr lang="en-US" sz="1100" dirty="0">
                        <a:latin typeface="Be Vietnam Pro" charset="0"/>
                        <a:ea typeface="Be Vietnam Pro" charset="0"/>
                        <a:cs typeface="Be Vietnam Pro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E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true</a:t>
                      </a:r>
                      <a:endParaRPr lang="en-US" sz="1100" dirty="0">
                        <a:latin typeface="Be Vietnam Pro" charset="0"/>
                        <a:ea typeface="Be Vietnam Pro" charset="0"/>
                        <a:cs typeface="Be Vietnam Pro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E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4572E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DEMO</a:t>
                      </a:r>
                      <a:endParaRPr lang="en-US" sz="1100" dirty="0">
                        <a:latin typeface="Be Vietnam Pro" charset="0"/>
                        <a:ea typeface="Be Vietnam Pro" charset="0"/>
                        <a:cs typeface="Be Vietnam Pro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E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DATA_LAYER_MODE</a:t>
                      </a:r>
                      <a:endParaRPr lang="en-US" sz="1100" dirty="0">
                        <a:latin typeface="Be Vietnam Pro" charset="0"/>
                        <a:ea typeface="Be Vietnam Pro" charset="0"/>
                        <a:cs typeface="Be Vietnam Pro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E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IN_MEMORY_DEMO</a:t>
                      </a:r>
                      <a:endParaRPr lang="en-US" sz="1100" dirty="0">
                        <a:latin typeface="Be Vietnam Pro" charset="0"/>
                        <a:ea typeface="Be Vietnam Pro" charset="0"/>
                        <a:cs typeface="Be Vietnam Pro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E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4572E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DEMO</a:t>
                      </a:r>
                      <a:endParaRPr lang="en-US" sz="1100" dirty="0">
                        <a:latin typeface="Be Vietnam Pro" charset="0"/>
                        <a:ea typeface="Be Vietnam Pro" charset="0"/>
                        <a:cs typeface="Be Vietnam Pro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EFF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457200" y="6254496"/>
            <a:ext cx="11277295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E4572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 server/v9DataEngine.ts + v10DataEngine.ts + v10DataDictionary.ts (chạy live 2026-09-15).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457200" y="6565392"/>
            <a:ext cx="5486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A557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EduChoice-AI · Appendix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9997135" y="6565392"/>
            <a:ext cx="17373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4A557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EduChoice-AI v3.0.0 · 2026</a:t>
            </a:r>
            <a:endParaRPr lang="en-US" sz="800" dirty="0"/>
          </a:p>
        </p:txBody>
      </p:sp>
      <p:sp>
        <p:nvSpPr>
          <p:cNvPr id="12" name="Text 9"/>
          <p:cNvSpPr/>
          <p:nvPr/>
        </p:nvSpPr>
        <p:spPr>
          <a:xfrm>
            <a:off x="11140135" y="6565392"/>
            <a:ext cx="5943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4E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6B4EFF"/>
          </a:solidFill>
          <a:ln/>
        </p:spPr>
      </p:sp>
      <p:sp>
        <p:nvSpPr>
          <p:cNvPr id="4" name="Text 2"/>
          <p:cNvSpPr/>
          <p:nvPr/>
        </p:nvSpPr>
        <p:spPr>
          <a:xfrm>
            <a:off x="9814255" y="228600"/>
            <a:ext cx="1920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E4572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BACKUP · B04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256032"/>
            <a:ext cx="82296" cy="457200"/>
          </a:xfrm>
          <a:prstGeom prst="rect">
            <a:avLst/>
          </a:prstGeom>
          <a:solidFill>
            <a:srgbClr val="6B4EFF"/>
          </a:solidFill>
          <a:ln/>
        </p:spPr>
      </p:sp>
      <p:sp>
        <p:nvSpPr>
          <p:cNvPr id="6" name="Text 4"/>
          <p:cNvSpPr/>
          <p:nvPr/>
        </p:nvSpPr>
        <p:spPr>
          <a:xfrm>
            <a:off x="621792" y="27432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6B4E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APPENDIX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868680"/>
            <a:ext cx="11277295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2000" b="1" dirty="0">
                <a:solidFill>
                  <a:srgbClr val="1E244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Công thức — chi tiết (Formula Registry)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594360" y="1920240"/>
            <a:ext cx="11002975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b="1" dirty="0">
                <a:solidFill>
                  <a:srgbClr val="3D2B9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F-001 · Completion Rate (VERIFIED)</a:t>
            </a:r>
            <a:endParaRPr lang="en-US" sz="1300" dirty="0"/>
          </a:p>
          <a:p>
            <a:pPr marL="342900" indent="-3429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b="1" dirty="0">
                <a:solidFill>
                  <a:srgbClr val="3D2B9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F-002 · Transfer Gap (VERIFIED)</a:t>
            </a:r>
            <a:endParaRPr lang="en-US" sz="1300" dirty="0"/>
          </a:p>
          <a:p>
            <a:pPr marL="342900" indent="-3429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b="1" dirty="0">
                <a:solidFill>
                  <a:srgbClr val="3D2B9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F-003 · Decision Time Mean (VERIFIED)</a:t>
            </a:r>
            <a:endParaRPr lang="en-US" sz="1300" dirty="0"/>
          </a:p>
          <a:p>
            <a:pPr marL="342900" indent="-3429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b="1" dirty="0">
                <a:solidFill>
                  <a:srgbClr val="3D2B9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F-004 · Write Success Rate (VERIFIED)</a:t>
            </a:r>
            <a:endParaRPr lang="en-US" sz="1300" dirty="0"/>
          </a:p>
          <a:p>
            <a:pPr marL="342900" indent="-3429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b="1" dirty="0">
                <a:solidFill>
                  <a:srgbClr val="3D2B9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F-005 · Transfer Index (NOT_VERIFIED — không đưa lên slide chính)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6565392"/>
            <a:ext cx="5486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A557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EduChoice-AI · Appendix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9997135" y="6565392"/>
            <a:ext cx="17373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4A557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EduChoice-AI v3.0.0 · 2026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11140135" y="6565392"/>
            <a:ext cx="5943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4E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6B4EFF"/>
          </a:solidFill>
          <a:ln/>
        </p:spPr>
      </p:sp>
      <p:sp>
        <p:nvSpPr>
          <p:cNvPr id="4" name="Text 2"/>
          <p:cNvSpPr/>
          <p:nvPr/>
        </p:nvSpPr>
        <p:spPr>
          <a:xfrm>
            <a:off x="9814255" y="228600"/>
            <a:ext cx="1920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E4572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BACKUP · B05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256032"/>
            <a:ext cx="82296" cy="457200"/>
          </a:xfrm>
          <a:prstGeom prst="rect">
            <a:avLst/>
          </a:prstGeom>
          <a:solidFill>
            <a:srgbClr val="6B4EFF"/>
          </a:solidFill>
          <a:ln/>
        </p:spPr>
      </p:sp>
      <p:sp>
        <p:nvSpPr>
          <p:cNvPr id="6" name="Text 4"/>
          <p:cNvSpPr/>
          <p:nvPr/>
        </p:nvSpPr>
        <p:spPr>
          <a:xfrm>
            <a:off x="621792" y="27432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6B4E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APPENDIX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868680"/>
            <a:ext cx="11277295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2000" b="1" dirty="0">
                <a:solidFill>
                  <a:srgbClr val="1E244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Yêu cầu AI không tự trị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594360" y="1920240"/>
            <a:ext cx="11002975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8000"/>
              </a:lnSpc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3D2B9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CANDIDATE SET → GEMINI → SCHEMA → ALLOW-LIST → SAFETY → BUSINESS RULES → FINAL ACTION</a:t>
            </a:r>
            <a:endParaRPr lang="en-US" sz="1300" dirty="0"/>
          </a:p>
          <a:p>
            <a:pPr marL="342900" indent="-342900">
              <a:lnSpc>
                <a:spcPct val="108000"/>
              </a:lnSpc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3D2B9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1. candidate set</a:t>
            </a:r>
            <a:endParaRPr lang="en-US" sz="1300" dirty="0"/>
          </a:p>
          <a:p>
            <a:pPr marL="342900" indent="-342900">
              <a:lnSpc>
                <a:spcPct val="108000"/>
              </a:lnSpc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3D2B9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2. Gemini reasoning</a:t>
            </a:r>
            <a:endParaRPr lang="en-US" sz="1300" dirty="0"/>
          </a:p>
          <a:p>
            <a:pPr marL="342900" indent="-342900">
              <a:lnSpc>
                <a:spcPct val="108000"/>
              </a:lnSpc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3D2B9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3. schema validation</a:t>
            </a:r>
            <a:endParaRPr lang="en-US" sz="1300" dirty="0"/>
          </a:p>
          <a:p>
            <a:pPr marL="342900" indent="-342900">
              <a:lnSpc>
                <a:spcPct val="108000"/>
              </a:lnSpc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3D2B9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4. allow-list (game/toolkit)</a:t>
            </a:r>
            <a:endParaRPr lang="en-US" sz="1300" dirty="0"/>
          </a:p>
          <a:p>
            <a:pPr marL="342900" indent="-342900">
              <a:lnSpc>
                <a:spcPct val="108000"/>
              </a:lnSpc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3D2B9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5. range (duration/difficulty)</a:t>
            </a:r>
            <a:endParaRPr lang="en-US" sz="1300" dirty="0"/>
          </a:p>
          <a:p>
            <a:pPr marL="342900" indent="-342900">
              <a:lnSpc>
                <a:spcPct val="108000"/>
              </a:lnSpc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3D2B9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6. safety</a:t>
            </a:r>
            <a:endParaRPr lang="en-US" sz="1300" dirty="0"/>
          </a:p>
          <a:p>
            <a:pPr marL="342900" indent="-342900">
              <a:lnSpc>
                <a:spcPct val="108000"/>
              </a:lnSpc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3D2B9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7. fallback deterministic</a:t>
            </a:r>
            <a:endParaRPr lang="en-US" sz="1300" dirty="0"/>
          </a:p>
          <a:p>
            <a:pPr marL="342900" indent="-342900">
              <a:lnSpc>
                <a:spcPct val="108000"/>
              </a:lnSpc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3D2B9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8. final action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6108192"/>
            <a:ext cx="112772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4572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KHÔNG: Gemini → direct execution (spec §80).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57200" y="6565392"/>
            <a:ext cx="5486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A557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EduChoice-AI · Appendix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9997135" y="6565392"/>
            <a:ext cx="17373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4A557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EduChoice-AI v3.0.0 · 2026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1140135" y="6565392"/>
            <a:ext cx="5943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4E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6B4EFF"/>
          </a:solidFill>
          <a:ln/>
        </p:spPr>
      </p:sp>
      <p:sp>
        <p:nvSpPr>
          <p:cNvPr id="4" name="Text 2"/>
          <p:cNvSpPr/>
          <p:nvPr/>
        </p:nvSpPr>
        <p:spPr>
          <a:xfrm>
            <a:off x="9814255" y="228600"/>
            <a:ext cx="1920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E4572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BACKUP · B06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256032"/>
            <a:ext cx="82296" cy="457200"/>
          </a:xfrm>
          <a:prstGeom prst="rect">
            <a:avLst/>
          </a:prstGeom>
          <a:solidFill>
            <a:srgbClr val="6B4EFF"/>
          </a:solidFill>
          <a:ln/>
        </p:spPr>
      </p:sp>
      <p:sp>
        <p:nvSpPr>
          <p:cNvPr id="6" name="Text 4"/>
          <p:cNvSpPr/>
          <p:nvPr/>
        </p:nvSpPr>
        <p:spPr>
          <a:xfrm>
            <a:off x="621792" y="27432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6B4E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APPENDIX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868680"/>
            <a:ext cx="11277295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2000" b="1" dirty="0">
                <a:solidFill>
                  <a:srgbClr val="1E244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E2E — 20 bước &amp; 2 gap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594360" y="1920240"/>
            <a:ext cx="11002975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350" b="1" dirty="0">
                <a:solidFill>
                  <a:srgbClr val="3D2B9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Gap 1 — T06</a:t>
            </a:r>
            <a:endParaRPr lang="en-US" sz="1350" dirty="0"/>
          </a:p>
          <a:p>
            <a:pPr marL="342900" indent="-3429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E244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Chưa có luồng ghi 10_INTERVENTIONS từ game runtime</a:t>
            </a:r>
            <a:endParaRPr lang="en-US" sz="1350" dirty="0"/>
          </a:p>
          <a:p>
            <a:pPr marL="342900" indent="-3429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350" b="1" dirty="0">
                <a:solidFill>
                  <a:srgbClr val="3D2B9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Gap 2 — T09</a:t>
            </a:r>
            <a:endParaRPr lang="en-US" sz="1350" dirty="0"/>
          </a:p>
          <a:p>
            <a:pPr marL="342900" indent="-3429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E244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Chưa có quyết định AI nào được ghi (18_AI_DECISIONS) cho học sinh test này</a:t>
            </a:r>
            <a:endParaRPr lang="en-US" sz="1350" dirty="0"/>
          </a:p>
          <a:p>
            <a:pPr marL="342900" indent="-3429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350" b="1" dirty="0">
                <a:solidFill>
                  <a:srgbClr val="3D2B9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Kế hoạch đóng gap</a:t>
            </a:r>
            <a:endParaRPr lang="en-US" sz="1350" dirty="0"/>
          </a:p>
          <a:p>
            <a:pPr marL="342900" indent="-3429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E244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T06: ghi can thiệp từ GameRuntime khi trigger intervention; T09: đảm bảo mọi phiên chạy adaptive-reason đều log</a:t>
            </a:r>
            <a:endParaRPr lang="en-US" sz="1350" dirty="0"/>
          </a:p>
          <a:p>
            <a:pPr marL="342900" indent="-3429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350" b="1" dirty="0">
                <a:solidFill>
                  <a:srgbClr val="3D2B9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Thay vì giả PASS</a:t>
            </a:r>
            <a:endParaRPr lang="en-US" sz="1350" dirty="0"/>
          </a:p>
          <a:p>
            <a:pPr marL="342900" indent="-3429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E244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 test hiện báo lỗi công khai 2/20 — có thể tái lập (repo: npm run + tsx)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457200" y="6254496"/>
            <a:ext cx="11277295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E4572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 server/v9DataEngine.ts runE2ETests() — kết quả đo live 2026-09-15.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457200" y="6565392"/>
            <a:ext cx="5486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A557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EduChoice-AI · Appendix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9997135" y="6565392"/>
            <a:ext cx="17373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4A557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EduChoice-AI v3.0.0 · 2026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1140135" y="6565392"/>
            <a:ext cx="5943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4E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6B4EFF"/>
          </a:solidFill>
          <a:ln/>
        </p:spPr>
      </p:sp>
      <p:sp>
        <p:nvSpPr>
          <p:cNvPr id="4" name="Text 2"/>
          <p:cNvSpPr/>
          <p:nvPr/>
        </p:nvSpPr>
        <p:spPr>
          <a:xfrm>
            <a:off x="9814255" y="228600"/>
            <a:ext cx="1920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E4572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BACKUP · B07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256032"/>
            <a:ext cx="82296" cy="457200"/>
          </a:xfrm>
          <a:prstGeom prst="rect">
            <a:avLst/>
          </a:prstGeom>
          <a:solidFill>
            <a:srgbClr val="6B4EFF"/>
          </a:solidFill>
          <a:ln/>
        </p:spPr>
      </p:sp>
      <p:sp>
        <p:nvSpPr>
          <p:cNvPr id="6" name="Text 4"/>
          <p:cNvSpPr/>
          <p:nvPr/>
        </p:nvSpPr>
        <p:spPr>
          <a:xfrm>
            <a:off x="621792" y="27432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6B4E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APPENDIX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868680"/>
            <a:ext cx="11277295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2000" b="1" dirty="0">
                <a:solidFill>
                  <a:srgbClr val="1E244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Kiến trúc — chi tiết module</a:t>
            </a:r>
            <a:endParaRPr lang="en-US" sz="2000" dirty="0"/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920240"/>
          <a:ext cx="11277295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4754880"/>
                <a:gridCol w="2286000"/>
                <a:gridCol w="246888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Module</a:t>
                      </a:r>
                      <a:endParaRPr lang="en-US" sz="1050" dirty="0">
                        <a:latin typeface="Be Vietnam Pro" charset="0"/>
                        <a:ea typeface="Be Vietnam Pro" charset="0"/>
                        <a:cs typeface="Be Vietnam Pro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E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Vai trò</a:t>
                      </a:r>
                      <a:endParaRPr lang="en-US" sz="1050" dirty="0">
                        <a:latin typeface="Be Vietnam Pro" charset="0"/>
                        <a:ea typeface="Be Vietnam Pro" charset="0"/>
                        <a:cs typeface="Be Vietnam Pro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E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Input</a:t>
                      </a:r>
                      <a:endParaRPr lang="en-US" sz="1050" dirty="0">
                        <a:latin typeface="Be Vietnam Pro" charset="0"/>
                        <a:ea typeface="Be Vietnam Pro" charset="0"/>
                        <a:cs typeface="Be Vietnam Pro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E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Output</a:t>
                      </a:r>
                      <a:endParaRPr lang="en-US" sz="1050" dirty="0">
                        <a:latin typeface="Be Vietnam Pro" charset="0"/>
                        <a:ea typeface="Be Vietnam Pro" charset="0"/>
                        <a:cs typeface="Be Vietnam Pro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E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Student UI / Teacher Dashboard</a:t>
                      </a:r>
                      <a:endParaRPr lang="en-US" sz="1050" dirty="0">
                        <a:latin typeface="Be Vietnam Pro" charset="0"/>
                        <a:ea typeface="Be Vietnam Pro" charset="0"/>
                        <a:cs typeface="Be Vietnam Pro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E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Giao diện &amp; agency</a:t>
                      </a:r>
                      <a:endParaRPr lang="en-US" sz="1050" dirty="0">
                        <a:latin typeface="Be Vietnam Pro" charset="0"/>
                        <a:ea typeface="Be Vietnam Pro" charset="0"/>
                        <a:cs typeface="Be Vietnam Pro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E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user action</a:t>
                      </a:r>
                      <a:endParaRPr lang="en-US" sz="1050" dirty="0">
                        <a:latin typeface="Be Vietnam Pro" charset="0"/>
                        <a:ea typeface="Be Vietnam Pro" charset="0"/>
                        <a:cs typeface="Be Vietnam Pro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E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screen state</a:t>
                      </a:r>
                      <a:endParaRPr lang="en-US" sz="1050" dirty="0">
                        <a:latin typeface="Be Vietnam Pro" charset="0"/>
                        <a:ea typeface="Be Vietnam Pro" charset="0"/>
                        <a:cs typeface="Be Vietnam Pro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E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API Bridge (Express)</a:t>
                      </a:r>
                      <a:endParaRPr lang="en-US" sz="1050" dirty="0">
                        <a:latin typeface="Be Vietnam Pro" charset="0"/>
                        <a:ea typeface="Be Vietnam Pro" charset="0"/>
                        <a:cs typeface="Be Vietnam Pro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E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Auth allow-list + RBAC + validation</a:t>
                      </a:r>
                      <a:endParaRPr lang="en-US" sz="1050" dirty="0">
                        <a:latin typeface="Be Vietnam Pro" charset="0"/>
                        <a:ea typeface="Be Vietnam Pro" charset="0"/>
                        <a:cs typeface="Be Vietnam Pro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E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HTTP request</a:t>
                      </a:r>
                      <a:endParaRPr lang="en-US" sz="1050" dirty="0">
                        <a:latin typeface="Be Vietnam Pro" charset="0"/>
                        <a:ea typeface="Be Vietnam Pro" charset="0"/>
                        <a:cs typeface="Be Vietnam Pro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E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JSON response</a:t>
                      </a:r>
                      <a:endParaRPr lang="en-US" sz="1050" dirty="0">
                        <a:latin typeface="Be Vietnam Pro" charset="0"/>
                        <a:ea typeface="Be Vietnam Pro" charset="0"/>
                        <a:cs typeface="Be Vietnam Pro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E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Rule Engine</a:t>
                      </a:r>
                      <a:endParaRPr lang="en-US" sz="1050" dirty="0">
                        <a:latin typeface="Be Vietnam Pro" charset="0"/>
                        <a:ea typeface="Be Vietnam Pro" charset="0"/>
                        <a:cs typeface="Be Vietnam Pro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E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Quyết định xác định + safety</a:t>
                      </a:r>
                      <a:endParaRPr lang="en-US" sz="1050" dirty="0">
                        <a:latin typeface="Be Vietnam Pro" charset="0"/>
                        <a:ea typeface="Be Vietnam Pro" charset="0"/>
                        <a:cs typeface="Be Vietnam Pro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E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student state, events</a:t>
                      </a:r>
                      <a:endParaRPr lang="en-US" sz="1050" dirty="0">
                        <a:latin typeface="Be Vietnam Pro" charset="0"/>
                        <a:ea typeface="Be Vietnam Pro" charset="0"/>
                        <a:cs typeface="Be Vietnam Pro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E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constraint &amp; fallback</a:t>
                      </a:r>
                      <a:endParaRPr lang="en-US" sz="1050" dirty="0">
                        <a:latin typeface="Be Vietnam Pro" charset="0"/>
                        <a:ea typeface="Be Vietnam Pro" charset="0"/>
                        <a:cs typeface="Be Vietnam Pro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E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Student Model</a:t>
                      </a:r>
                      <a:endParaRPr lang="en-US" sz="1050" dirty="0">
                        <a:latin typeface="Be Vietnam Pro" charset="0"/>
                        <a:ea typeface="Be Vietnam Pro" charset="0"/>
                        <a:cs typeface="Be Vietnam Pro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E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Tích lũy bằng chứng hành vi</a:t>
                      </a:r>
                      <a:endParaRPr lang="en-US" sz="1050" dirty="0">
                        <a:latin typeface="Be Vietnam Pro" charset="0"/>
                        <a:ea typeface="Be Vietnam Pro" charset="0"/>
                        <a:cs typeface="Be Vietnam Pro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E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behavior events</a:t>
                      </a:r>
                      <a:endParaRPr lang="en-US" sz="1050" dirty="0">
                        <a:latin typeface="Be Vietnam Pro" charset="0"/>
                        <a:ea typeface="Be Vietnam Pro" charset="0"/>
                        <a:cs typeface="Be Vietnam Pro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E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construct scores</a:t>
                      </a:r>
                      <a:endParaRPr lang="en-US" sz="1050" dirty="0">
                        <a:latin typeface="Be Vietnam Pro" charset="0"/>
                        <a:ea typeface="Be Vietnam Pro" charset="0"/>
                        <a:cs typeface="Be Vietnam Pro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E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Gemini</a:t>
                      </a:r>
                      <a:endParaRPr lang="en-US" sz="1050" dirty="0">
                        <a:latin typeface="Be Vietnam Pro" charset="0"/>
                        <a:ea typeface="Be Vietnam Pro" charset="0"/>
                        <a:cs typeface="Be Vietnam Pro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E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Reasoning trong allow-list</a:t>
                      </a:r>
                      <a:endParaRPr lang="en-US" sz="1050" dirty="0">
                        <a:latin typeface="Be Vietnam Pro" charset="0"/>
                        <a:ea typeface="Be Vietnam Pro" charset="0"/>
                        <a:cs typeface="Be Vietnam Pro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E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minimized context</a:t>
                      </a:r>
                      <a:endParaRPr lang="en-US" sz="1050" dirty="0">
                        <a:latin typeface="Be Vietnam Pro" charset="0"/>
                        <a:ea typeface="Be Vietnam Pro" charset="0"/>
                        <a:cs typeface="Be Vietnam Pro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E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candidate suggestion</a:t>
                      </a:r>
                      <a:endParaRPr lang="en-US" sz="1050" dirty="0">
                        <a:latin typeface="Be Vietnam Pro" charset="0"/>
                        <a:ea typeface="Be Vietnam Pro" charset="0"/>
                        <a:cs typeface="Be Vietnam Pro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E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Validation gate</a:t>
                      </a:r>
                      <a:endParaRPr lang="en-US" sz="1050" dirty="0">
                        <a:latin typeface="Be Vietnam Pro" charset="0"/>
                        <a:ea typeface="Be Vietnam Pro" charset="0"/>
                        <a:cs typeface="Be Vietnam Pro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E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Ép output vào ràng buộc</a:t>
                      </a:r>
                      <a:endParaRPr lang="en-US" sz="1050" dirty="0">
                        <a:latin typeface="Be Vietnam Pro" charset="0"/>
                        <a:ea typeface="Be Vietnam Pro" charset="0"/>
                        <a:cs typeface="Be Vietnam Pro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E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AI suggestion</a:t>
                      </a:r>
                      <a:endParaRPr lang="en-US" sz="1050" dirty="0">
                        <a:latin typeface="Be Vietnam Pro" charset="0"/>
                        <a:ea typeface="Be Vietnam Pro" charset="0"/>
                        <a:cs typeface="Be Vietnam Pro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E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valid/fallback decision</a:t>
                      </a:r>
                      <a:endParaRPr lang="en-US" sz="1050" dirty="0">
                        <a:latin typeface="Be Vietnam Pro" charset="0"/>
                        <a:ea typeface="Be Vietnam Pro" charset="0"/>
                        <a:cs typeface="Be Vietnam Pro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E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Data Layer</a:t>
                      </a:r>
                      <a:endParaRPr lang="en-US" sz="1050" dirty="0">
                        <a:latin typeface="Be Vietnam Pro" charset="0"/>
                        <a:ea typeface="Be Vietnam Pro" charset="0"/>
                        <a:cs typeface="Be Vietnam Pro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E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Lưu trữ canonical 39 sheets</a:t>
                      </a:r>
                      <a:endParaRPr lang="en-US" sz="1050" dirty="0">
                        <a:latin typeface="Be Vietnam Pro" charset="0"/>
                        <a:ea typeface="Be Vietnam Pro" charset="0"/>
                        <a:cs typeface="Be Vietnam Pro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E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written records</a:t>
                      </a:r>
                      <a:endParaRPr lang="en-US" sz="1050" dirty="0">
                        <a:latin typeface="Be Vietnam Pro" charset="0"/>
                        <a:ea typeface="Be Vietnam Pro" charset="0"/>
                        <a:cs typeface="Be Vietnam Pro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E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queryable rows</a:t>
                      </a:r>
                      <a:endParaRPr lang="en-US" sz="1050" dirty="0">
                        <a:latin typeface="Be Vietnam Pro" charset="0"/>
                        <a:ea typeface="Be Vietnam Pro" charset="0"/>
                        <a:cs typeface="Be Vietnam Pro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EFF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457200" y="6565392"/>
            <a:ext cx="5486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A557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EduChoice-AI · Appendix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9997135" y="6565392"/>
            <a:ext cx="17373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4A557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EduChoice-AI v3.0.0 · 2026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11140135" y="6565392"/>
            <a:ext cx="5943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4E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6B4EFF"/>
          </a:solidFill>
          <a:ln/>
        </p:spPr>
      </p:sp>
      <p:sp>
        <p:nvSpPr>
          <p:cNvPr id="4" name="Text 2"/>
          <p:cNvSpPr/>
          <p:nvPr/>
        </p:nvSpPr>
        <p:spPr>
          <a:xfrm>
            <a:off x="9814255" y="228600"/>
            <a:ext cx="1920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E4572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BACKUP · B08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256032"/>
            <a:ext cx="82296" cy="457200"/>
          </a:xfrm>
          <a:prstGeom prst="rect">
            <a:avLst/>
          </a:prstGeom>
          <a:solidFill>
            <a:srgbClr val="6B4EFF"/>
          </a:solidFill>
          <a:ln/>
        </p:spPr>
      </p:sp>
      <p:sp>
        <p:nvSpPr>
          <p:cNvPr id="6" name="Text 4"/>
          <p:cNvSpPr/>
          <p:nvPr/>
        </p:nvSpPr>
        <p:spPr>
          <a:xfrm>
            <a:off x="621792" y="27432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6B4E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APPENDIX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868680"/>
            <a:ext cx="11277295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2000" b="1" dirty="0">
                <a:solidFill>
                  <a:srgbClr val="1E244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Quản trị lành mạnh (System Control)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594360" y="1920240"/>
            <a:ext cx="11002975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350" b="1" dirty="0">
                <a:solidFill>
                  <a:srgbClr val="3D2B9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Admin dashboard nên hiển thị (spec §83, §147)</a:t>
            </a:r>
            <a:endParaRPr lang="en-US" sz="1350" dirty="0"/>
          </a:p>
          <a:p>
            <a:pPr marL="342900" indent="-3429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E244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API health (honest), data quality, AI usage, fallback rate, audit</a:t>
            </a:r>
            <a:endParaRPr lang="en-US" sz="1350" dirty="0"/>
          </a:p>
          <a:p>
            <a:pPr marL="342900" indent="-3429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E244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Teacher thấy "what matters" chứ không phải 10.000 raw events</a:t>
            </a:r>
            <a:endParaRPr lang="en-US" sz="1350" dirty="0"/>
          </a:p>
          <a:p>
            <a:pPr marL="342900" indent="-3429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350" b="1" dirty="0">
                <a:solidFill>
                  <a:srgbClr val="3D2B9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Nguyên tắc KHÔNG</a:t>
            </a:r>
            <a:endParaRPr lang="en-US" sz="1350" dirty="0"/>
          </a:p>
          <a:p>
            <a:pPr marL="342900" indent="-3429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E244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 báo success giả cho sheets/sync khi chưa cấu hình (501)</a:t>
            </a:r>
            <a:endParaRPr lang="en-US" sz="1350" dirty="0"/>
          </a:p>
          <a:p>
            <a:pPr marL="342900" indent="-3429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E244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 để demo UI làm rối deck (presentation mode tách khỏi demo mode)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457200" y="6565392"/>
            <a:ext cx="5486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A557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EduChoice-AI · Appendix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9997135" y="6565392"/>
            <a:ext cx="17373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4A557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EduChoice-AI v3.0.0 · 2026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11140135" y="6565392"/>
            <a:ext cx="5943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4E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6B4EFF"/>
          </a:solidFill>
          <a:ln/>
        </p:spPr>
      </p:sp>
      <p:sp>
        <p:nvSpPr>
          <p:cNvPr id="4" name="Text 2"/>
          <p:cNvSpPr/>
          <p:nvPr/>
        </p:nvSpPr>
        <p:spPr>
          <a:xfrm>
            <a:off x="9814255" y="228600"/>
            <a:ext cx="1920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E4572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BACKUP · B09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256032"/>
            <a:ext cx="82296" cy="457200"/>
          </a:xfrm>
          <a:prstGeom prst="rect">
            <a:avLst/>
          </a:prstGeom>
          <a:solidFill>
            <a:srgbClr val="6B4EFF"/>
          </a:solidFill>
          <a:ln/>
        </p:spPr>
      </p:sp>
      <p:sp>
        <p:nvSpPr>
          <p:cNvPr id="6" name="Text 4"/>
          <p:cNvSpPr/>
          <p:nvPr/>
        </p:nvSpPr>
        <p:spPr>
          <a:xfrm>
            <a:off x="621792" y="27432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6B4E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APPENDIX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868680"/>
            <a:ext cx="11277295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2000" b="1" dirty="0">
                <a:solidFill>
                  <a:srgbClr val="1E244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Q&amp;A drill — câu hỏi có thể gặp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594360" y="1920240"/>
            <a:ext cx="11002975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300" b="1" dirty="0">
                <a:solidFill>
                  <a:srgbClr val="3D2B9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Q1 · Tại sao dùng Gemini mà không phải rule thuần?</a:t>
            </a:r>
            <a:endParaRPr lang="en-US" sz="1300" dirty="0"/>
          </a:p>
          <a:p>
            <a:pPr marL="342900" indent="-3429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E244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Gemini reasoning giữa các lựa chọn hợp lệ giúp lời khuyên gần ngôn ngữ tự nhiên; rule engine giữ an toàn deterministic</a:t>
            </a:r>
            <a:endParaRPr lang="en-US" sz="1300" dirty="0"/>
          </a:p>
          <a:p>
            <a:pPr marL="342900" indent="-3429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300" b="1" dirty="0">
                <a:solidFill>
                  <a:srgbClr val="3D2B9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Q2 · Nếu Gemini bịa nội dung?</a:t>
            </a:r>
            <a:endParaRPr lang="en-US" sz="1300" dirty="0"/>
          </a:p>
          <a:p>
            <a:pPr marL="342900" indent="-3429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E244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Validation gate ép output vào allow-list/range/schema; fallback deterministic thay thế khi không hợp lệ</a:t>
            </a:r>
            <a:endParaRPr lang="en-US" sz="1300" dirty="0"/>
          </a:p>
          <a:p>
            <a:pPr marL="342900" indent="-3429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300" b="1" dirty="0">
                <a:solidFill>
                  <a:srgbClr val="3D2B9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Q3 · Điểm yếu lớn nhất?</a:t>
            </a:r>
            <a:endParaRPr lang="en-US" sz="1300" dirty="0"/>
          </a:p>
          <a:p>
            <a:pPr marL="342900" indent="-3429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E244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Data layer đang in-memory demo; chưa có thực nghiệm học sinh thật → chưa thể nói "hiệu quả"</a:t>
            </a:r>
            <a:endParaRPr lang="en-US" sz="1300" dirty="0"/>
          </a:p>
          <a:p>
            <a:pPr marL="342900" indent="-3429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300" b="1" dirty="0">
                <a:solidFill>
                  <a:srgbClr val="3D2B9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Q4 · Bảo hiểm chống bịa số liệu?</a:t>
            </a:r>
            <a:endParaRPr lang="en-US" sz="1300" dirty="0"/>
          </a:p>
          <a:p>
            <a:pPr marL="342900" indent="-3429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E244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Mọi slide đối chiếu với evidence ledger / formula registry / QA report; dữ liệu thực nghiệm về sau phải qua research design validator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6565392"/>
            <a:ext cx="5486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A557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EduChoice-AI · Appendix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9997135" y="6565392"/>
            <a:ext cx="17373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4A557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EduChoice-AI v3.0.0 · 2026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11140135" y="6565392"/>
            <a:ext cx="5943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4E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33</Slides>
  <Notes>33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EduChoice-AI — Nền tảng hỗ trợ tự điều chỉnh hành vi học tập bằng AI thích ứng có kiểm soát</dc:title>
  <dc:subject>Hội đồng giám khảo KHKT</dc:subject>
  <dc:creator>EduChoice-AI Team</dc:creator>
  <cp:lastModifiedBy>EduChoice-AI Team</cp:lastModifiedBy>
  <cp:revision>1</cp:revision>
  <dcterms:created xsi:type="dcterms:W3CDTF">2026-09-15T05:04:26Z</dcterms:created>
  <dcterms:modified xsi:type="dcterms:W3CDTF">2026-09-15T05:04:26Z</dcterms:modified>
</cp:coreProperties>
</file>